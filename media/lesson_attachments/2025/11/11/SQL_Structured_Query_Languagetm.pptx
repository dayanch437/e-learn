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6"/>
  </p:notesMasterIdLst>
  <p:handoutMasterIdLst>
    <p:handoutMasterId r:id="rId77"/>
  </p:handoutMasterIdLst>
  <p:sldIdLst>
    <p:sldId id="269" r:id="rId5"/>
    <p:sldId id="278" r:id="rId6"/>
    <p:sldId id="279" r:id="rId7"/>
    <p:sldId id="280" r:id="rId8"/>
    <p:sldId id="281" r:id="rId9"/>
    <p:sldId id="329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330" r:id="rId19"/>
    <p:sldId id="290" r:id="rId20"/>
    <p:sldId id="291" r:id="rId21"/>
    <p:sldId id="292" r:id="rId22"/>
    <p:sldId id="293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  <p:sldId id="318" r:id="rId47"/>
    <p:sldId id="319" r:id="rId48"/>
    <p:sldId id="320" r:id="rId49"/>
    <p:sldId id="321" r:id="rId50"/>
    <p:sldId id="322" r:id="rId51"/>
    <p:sldId id="323" r:id="rId52"/>
    <p:sldId id="324" r:id="rId53"/>
    <p:sldId id="325" r:id="rId54"/>
    <p:sldId id="326" r:id="rId55"/>
    <p:sldId id="327" r:id="rId56"/>
    <p:sldId id="328" r:id="rId57"/>
    <p:sldId id="331" r:id="rId58"/>
    <p:sldId id="332" r:id="rId59"/>
    <p:sldId id="333" r:id="rId60"/>
    <p:sldId id="334" r:id="rId61"/>
    <p:sldId id="335" r:id="rId62"/>
    <p:sldId id="336" r:id="rId63"/>
    <p:sldId id="337" r:id="rId64"/>
    <p:sldId id="339" r:id="rId65"/>
    <p:sldId id="340" r:id="rId66"/>
    <p:sldId id="341" r:id="rId67"/>
    <p:sldId id="342" r:id="rId68"/>
    <p:sldId id="343" r:id="rId69"/>
    <p:sldId id="344" r:id="rId70"/>
    <p:sldId id="345" r:id="rId71"/>
    <p:sldId id="346" r:id="rId72"/>
    <p:sldId id="347" r:id="rId73"/>
    <p:sldId id="348" r:id="rId74"/>
    <p:sldId id="349" r:id="rId75"/>
  </p:sldIdLst>
  <p:sldSz cx="12192000" cy="6858000"/>
  <p:notesSz cx="6858000" cy="9144000"/>
  <p:defaultTextStyle>
    <a:defPPr>
      <a:defRPr lang="t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CD90"/>
    <a:srgbClr val="57B9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34" autoAdjust="0"/>
  </p:normalViewPr>
  <p:slideViewPr>
    <p:cSldViewPr snapToGrid="0">
      <p:cViewPr varScale="1">
        <p:scale>
          <a:sx n="60" d="100"/>
          <a:sy n="60" d="100"/>
        </p:scale>
        <p:origin x="96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B021ECB-E5E0-4559-8547-6932920D41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F2C2B-73AD-432B-B1BA-5B137A9119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7279A-3E34-4139-96E8-B748F2CAADEF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522B6-75F6-4142-8CF8-E07CFD9423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33A631-D0FF-49E5-BEA5-A81351C110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DC40A-A0FF-4BB0-B2CF-A3A4D00A30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843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0B447-CB0C-4DAF-89A8-27D8B9E7E434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6E128-7848-41C8-9D17-DA3B35E505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101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6E128-7848-41C8-9D17-DA3B35E5052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689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6E128-7848-41C8-9D17-DA3B35E5052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530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FF771E-C08F-409D-95E9-1024C4084B56}"/>
              </a:ext>
            </a:extLst>
          </p:cNvPr>
          <p:cNvSpPr/>
          <p:nvPr userDrawn="1"/>
        </p:nvSpPr>
        <p:spPr>
          <a:xfrm>
            <a:off x="0" y="-32004"/>
            <a:ext cx="12192000" cy="6922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C2FF076-3E45-4FBB-AB10-CB6A07F6B0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-32004"/>
            <a:ext cx="12192000" cy="691286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3483F35-9564-4CAF-9610-9557CD25DED4}"/>
              </a:ext>
            </a:extLst>
          </p:cNvPr>
          <p:cNvSpPr/>
          <p:nvPr userDrawn="1"/>
        </p:nvSpPr>
        <p:spPr>
          <a:xfrm>
            <a:off x="0" y="-32004"/>
            <a:ext cx="2564804" cy="6922008"/>
          </a:xfrm>
          <a:custGeom>
            <a:avLst/>
            <a:gdLst>
              <a:gd name="connsiteX0" fmla="*/ 0 w 2640648"/>
              <a:gd name="connsiteY0" fmla="*/ 0 h 6859749"/>
              <a:gd name="connsiteX1" fmla="*/ 2640648 w 2640648"/>
              <a:gd name="connsiteY1" fmla="*/ 0 h 6859749"/>
              <a:gd name="connsiteX2" fmla="*/ 2640648 w 2640648"/>
              <a:gd name="connsiteY2" fmla="*/ 6859749 h 6859749"/>
              <a:gd name="connsiteX3" fmla="*/ 0 w 2640648"/>
              <a:gd name="connsiteY3" fmla="*/ 6859749 h 6859749"/>
              <a:gd name="connsiteX4" fmla="*/ 0 w 2640648"/>
              <a:gd name="connsiteY4" fmla="*/ 0 h 6859749"/>
              <a:gd name="connsiteX0" fmla="*/ 0 w 2640648"/>
              <a:gd name="connsiteY0" fmla="*/ 0 h 6859749"/>
              <a:gd name="connsiteX1" fmla="*/ 1999625 w 2640648"/>
              <a:gd name="connsiteY1" fmla="*/ 0 h 6859749"/>
              <a:gd name="connsiteX2" fmla="*/ 2640648 w 2640648"/>
              <a:gd name="connsiteY2" fmla="*/ 6859749 h 6859749"/>
              <a:gd name="connsiteX3" fmla="*/ 0 w 2640648"/>
              <a:gd name="connsiteY3" fmla="*/ 6859749 h 6859749"/>
              <a:gd name="connsiteX4" fmla="*/ 0 w 2640648"/>
              <a:gd name="connsiteY4" fmla="*/ 0 h 6859749"/>
              <a:gd name="connsiteX0" fmla="*/ 0 w 2046760"/>
              <a:gd name="connsiteY0" fmla="*/ 0 h 6859749"/>
              <a:gd name="connsiteX1" fmla="*/ 1999625 w 2046760"/>
              <a:gd name="connsiteY1" fmla="*/ 0 h 6859749"/>
              <a:gd name="connsiteX2" fmla="*/ 2046760 w 2046760"/>
              <a:gd name="connsiteY2" fmla="*/ 6859749 h 6859749"/>
              <a:gd name="connsiteX3" fmla="*/ 0 w 2046760"/>
              <a:gd name="connsiteY3" fmla="*/ 6859749 h 6859749"/>
              <a:gd name="connsiteX4" fmla="*/ 0 w 2046760"/>
              <a:gd name="connsiteY4" fmla="*/ 0 h 6859749"/>
              <a:gd name="connsiteX0" fmla="*/ 0 w 2567481"/>
              <a:gd name="connsiteY0" fmla="*/ 0 h 6859749"/>
              <a:gd name="connsiteX1" fmla="*/ 1999625 w 2567481"/>
              <a:gd name="connsiteY1" fmla="*/ 0 h 6859749"/>
              <a:gd name="connsiteX2" fmla="*/ 2046760 w 2567481"/>
              <a:gd name="connsiteY2" fmla="*/ 6859749 h 6859749"/>
              <a:gd name="connsiteX3" fmla="*/ 0 w 2567481"/>
              <a:gd name="connsiteY3" fmla="*/ 6859749 h 6859749"/>
              <a:gd name="connsiteX4" fmla="*/ 0 w 2567481"/>
              <a:gd name="connsiteY4" fmla="*/ 0 h 6859749"/>
              <a:gd name="connsiteX0" fmla="*/ 0 w 2606088"/>
              <a:gd name="connsiteY0" fmla="*/ 0 h 6859749"/>
              <a:gd name="connsiteX1" fmla="*/ 1999625 w 2606088"/>
              <a:gd name="connsiteY1" fmla="*/ 0 h 6859749"/>
              <a:gd name="connsiteX2" fmla="*/ 2046760 w 2606088"/>
              <a:gd name="connsiteY2" fmla="*/ 6859749 h 6859749"/>
              <a:gd name="connsiteX3" fmla="*/ 0 w 2606088"/>
              <a:gd name="connsiteY3" fmla="*/ 6859749 h 6859749"/>
              <a:gd name="connsiteX4" fmla="*/ 0 w 2606088"/>
              <a:gd name="connsiteY4" fmla="*/ 0 h 6859749"/>
              <a:gd name="connsiteX0" fmla="*/ 0 w 2600807"/>
              <a:gd name="connsiteY0" fmla="*/ 0 h 6859749"/>
              <a:gd name="connsiteX1" fmla="*/ 1980771 w 2600807"/>
              <a:gd name="connsiteY1" fmla="*/ 0 h 6859749"/>
              <a:gd name="connsiteX2" fmla="*/ 2046760 w 2600807"/>
              <a:gd name="connsiteY2" fmla="*/ 6859749 h 6859749"/>
              <a:gd name="connsiteX3" fmla="*/ 0 w 2600807"/>
              <a:gd name="connsiteY3" fmla="*/ 6859749 h 6859749"/>
              <a:gd name="connsiteX4" fmla="*/ 0 w 2600807"/>
              <a:gd name="connsiteY4" fmla="*/ 0 h 6859749"/>
              <a:gd name="connsiteX0" fmla="*/ 0 w 2592015"/>
              <a:gd name="connsiteY0" fmla="*/ 0 h 6859749"/>
              <a:gd name="connsiteX1" fmla="*/ 1980771 w 2592015"/>
              <a:gd name="connsiteY1" fmla="*/ 0 h 6859749"/>
              <a:gd name="connsiteX2" fmla="*/ 2046760 w 2592015"/>
              <a:gd name="connsiteY2" fmla="*/ 6859749 h 6859749"/>
              <a:gd name="connsiteX3" fmla="*/ 0 w 2592015"/>
              <a:gd name="connsiteY3" fmla="*/ 6859749 h 6859749"/>
              <a:gd name="connsiteX4" fmla="*/ 0 w 2592015"/>
              <a:gd name="connsiteY4" fmla="*/ 0 h 6859749"/>
              <a:gd name="connsiteX0" fmla="*/ 0 w 2592015"/>
              <a:gd name="connsiteY0" fmla="*/ 0 h 6859749"/>
              <a:gd name="connsiteX1" fmla="*/ 1980771 w 2592015"/>
              <a:gd name="connsiteY1" fmla="*/ 0 h 6859749"/>
              <a:gd name="connsiteX2" fmla="*/ 2046760 w 2592015"/>
              <a:gd name="connsiteY2" fmla="*/ 6859749 h 6859749"/>
              <a:gd name="connsiteX3" fmla="*/ 0 w 2592015"/>
              <a:gd name="connsiteY3" fmla="*/ 6859749 h 6859749"/>
              <a:gd name="connsiteX4" fmla="*/ 0 w 2592015"/>
              <a:gd name="connsiteY4" fmla="*/ 0 h 6859749"/>
              <a:gd name="connsiteX0" fmla="*/ 0 w 2564804"/>
              <a:gd name="connsiteY0" fmla="*/ 0 h 6859749"/>
              <a:gd name="connsiteX1" fmla="*/ 1980771 w 2564804"/>
              <a:gd name="connsiteY1" fmla="*/ 0 h 6859749"/>
              <a:gd name="connsiteX2" fmla="*/ 2046760 w 2564804"/>
              <a:gd name="connsiteY2" fmla="*/ 6859749 h 6859749"/>
              <a:gd name="connsiteX3" fmla="*/ 0 w 2564804"/>
              <a:gd name="connsiteY3" fmla="*/ 6859749 h 6859749"/>
              <a:gd name="connsiteX4" fmla="*/ 0 w 2564804"/>
              <a:gd name="connsiteY4" fmla="*/ 0 h 6859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4804" h="6859749">
                <a:moveTo>
                  <a:pt x="0" y="0"/>
                </a:moveTo>
                <a:lnTo>
                  <a:pt x="1980771" y="0"/>
                </a:lnTo>
                <a:cubicBezTo>
                  <a:pt x="2005910" y="174979"/>
                  <a:pt x="3237679" y="2838634"/>
                  <a:pt x="2046760" y="6859749"/>
                </a:cubicBezTo>
                <a:lnTo>
                  <a:pt x="0" y="68597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19C2D0-427E-4EC2-97CA-5894246E3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06594" y="3787548"/>
            <a:ext cx="7148512" cy="1382712"/>
          </a:xfrm>
        </p:spPr>
        <p:txBody>
          <a:bodyPr>
            <a:normAutofit/>
          </a:bodyPr>
          <a:lstStyle>
            <a:lvl1pPr marL="0" indent="0">
              <a:buNone/>
              <a:defRPr sz="410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5FE897E-283F-4CA2-A452-0F26A45C1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1689" y="2349659"/>
            <a:ext cx="8292111" cy="1399667"/>
          </a:xfrm>
        </p:spPr>
        <p:txBody>
          <a:bodyPr anchor="b">
            <a:noAutofit/>
          </a:bodyPr>
          <a:lstStyle>
            <a:lvl1pPr>
              <a:defRPr sz="820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3479B2-DA38-42C0-A896-9F8545DE5EA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9E3C6BB-94B4-4057-A3BC-13D6F990109B}" type="datetimeFigureOut">
              <a:rPr lang="en-US" noProof="0" smtClean="0"/>
              <a:t>11/6/2025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42978-DC75-4938-8243-E29119EF32C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D92BE1-E2CB-42E9-8F81-535372A1B4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7F6F2DD-221D-4991-BA23-B2C16AFFF24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47595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C44F7B3-98E3-40F2-899B-399B0D3281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D2B3F-018A-4130-B26A-25A2E37D84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181225"/>
            <a:ext cx="10515600" cy="2495550"/>
          </a:xfrm>
        </p:spPr>
        <p:txBody>
          <a:bodyPr>
            <a:noAutofit/>
          </a:bodyPr>
          <a:lstStyle>
            <a:lvl1pPr algn="ctr">
              <a:defRPr sz="820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59F85E-2BF1-49AB-948A-9AF1F748C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C6BB-94B4-4057-A3BC-13D6F990109B}" type="datetimeFigureOut">
              <a:rPr lang="en-US" noProof="0" smtClean="0"/>
              <a:t>11/6/2025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137F35-7EC2-46E5-84F1-ED2853CAE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C13ED4-C27F-404D-8C33-413B6338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F2DD-221D-4991-BA23-B2C16AFFF24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263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EAAA90D-EC98-41FE-BED5-F2A0FE399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664219"/>
            <a:ext cx="12192000" cy="11231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8" name="Picture Placeholder 67">
            <a:extLst>
              <a:ext uri="{FF2B5EF4-FFF2-40B4-BE49-F238E27FC236}">
                <a16:creationId xmlns:a16="http://schemas.microsoft.com/office/drawing/2014/main" id="{316DFE2B-084C-4134-8A27-FD9E0ACA2DC5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549274" y="4358841"/>
            <a:ext cx="444024" cy="707122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Picture Placeholder 69">
            <a:extLst>
              <a:ext uri="{FF2B5EF4-FFF2-40B4-BE49-F238E27FC236}">
                <a16:creationId xmlns:a16="http://schemas.microsoft.com/office/drawing/2014/main" id="{18595927-69A3-44E2-8E8E-B097B8995974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549274" y="5183978"/>
            <a:ext cx="420805" cy="697710"/>
          </a:xfrm>
        </p:spPr>
        <p:txBody>
          <a:bodyPr>
            <a:normAutofit/>
          </a:bodyPr>
          <a:lstStyle>
            <a:lvl1pPr marL="0" indent="0">
              <a:buNone/>
              <a:defRPr sz="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2" name="Picture Placeholder 71">
            <a:extLst>
              <a:ext uri="{FF2B5EF4-FFF2-40B4-BE49-F238E27FC236}">
                <a16:creationId xmlns:a16="http://schemas.microsoft.com/office/drawing/2014/main" id="{34E24708-2E70-403A-8C0D-173D52979D2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49274" y="5991225"/>
            <a:ext cx="425520" cy="669925"/>
          </a:xfrm>
        </p:spPr>
        <p:txBody>
          <a:bodyPr>
            <a:normAutofit/>
          </a:bodyPr>
          <a:lstStyle>
            <a:lvl1pPr marL="0" indent="0">
              <a:buNone/>
              <a:defRPr sz="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4" name="Picture Placeholder 63">
            <a:extLst>
              <a:ext uri="{FF2B5EF4-FFF2-40B4-BE49-F238E27FC236}">
                <a16:creationId xmlns:a16="http://schemas.microsoft.com/office/drawing/2014/main" id="{790644FB-EBB4-4924-A139-5BEE882BFA6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49274" y="3718733"/>
            <a:ext cx="540000" cy="52209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1" name="Picture Placeholder 63">
            <a:extLst>
              <a:ext uri="{FF2B5EF4-FFF2-40B4-BE49-F238E27FC236}">
                <a16:creationId xmlns:a16="http://schemas.microsoft.com/office/drawing/2014/main" id="{2C6657F7-A121-49E1-8F18-1256502F4B8D}"/>
              </a:ext>
            </a:extLst>
          </p:cNvPr>
          <p:cNvSpPr>
            <a:spLocks noGrp="1" noChangeAspect="1"/>
          </p:cNvSpPr>
          <p:nvPr>
            <p:ph type="pic" sz="quarter" idx="41"/>
          </p:nvPr>
        </p:nvSpPr>
        <p:spPr>
          <a:xfrm>
            <a:off x="549274" y="2936656"/>
            <a:ext cx="488553" cy="61047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8" name="Text Placeholder 97">
            <a:extLst>
              <a:ext uri="{FF2B5EF4-FFF2-40B4-BE49-F238E27FC236}">
                <a16:creationId xmlns:a16="http://schemas.microsoft.com/office/drawing/2014/main" id="{234DDB24-5473-4E3A-87C2-2C13F43A98D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233488" y="4587081"/>
            <a:ext cx="3078162" cy="360362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89">
            <a:extLst>
              <a:ext uri="{FF2B5EF4-FFF2-40B4-BE49-F238E27FC236}">
                <a16:creationId xmlns:a16="http://schemas.microsoft.com/office/drawing/2014/main" id="{95901B5C-B37D-4C6C-BF5D-18BAD4CAB76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649663" y="2019300"/>
            <a:ext cx="6081712" cy="35083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Picture Placeholder 87">
            <a:extLst>
              <a:ext uri="{FF2B5EF4-FFF2-40B4-BE49-F238E27FC236}">
                <a16:creationId xmlns:a16="http://schemas.microsoft.com/office/drawing/2014/main" id="{38EC76EE-EB81-47B7-9744-21DFD6757890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175250" y="2966268"/>
            <a:ext cx="3457575" cy="604837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2" name="Text Placeholder 91">
            <a:extLst>
              <a:ext uri="{FF2B5EF4-FFF2-40B4-BE49-F238E27FC236}">
                <a16:creationId xmlns:a16="http://schemas.microsoft.com/office/drawing/2014/main" id="{0E108696-B9B7-4AE1-8918-CC00E7C868D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728075" y="3084513"/>
            <a:ext cx="3128963" cy="3683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6" name="Text Placeholder 95">
            <a:extLst>
              <a:ext uri="{FF2B5EF4-FFF2-40B4-BE49-F238E27FC236}">
                <a16:creationId xmlns:a16="http://schemas.microsoft.com/office/drawing/2014/main" id="{83A41563-E0A5-4C89-8D58-1EAF51C228D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233488" y="5382021"/>
            <a:ext cx="3052762" cy="365125"/>
          </a:xfrm>
        </p:spPr>
        <p:txBody>
          <a:bodyPr anchor="ctr"/>
          <a:lstStyle>
            <a:lvl1pPr marL="0" indent="0">
              <a:buNone/>
              <a:defRPr sz="18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044B8DA3-B7BD-4CEC-B681-434C289EE7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16846" y="1736725"/>
            <a:ext cx="607683" cy="940389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C7BCD5F4-57B5-4DD7-8919-828C7DADB2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33488" y="3097213"/>
            <a:ext cx="3078162" cy="369887"/>
          </a:xfrm>
        </p:spPr>
        <p:txBody>
          <a:bodyPr anchor="ctr"/>
          <a:lstStyle>
            <a:lvl1pPr marL="0" indent="0">
              <a:buNone/>
              <a:defRPr sz="18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56C49F0C-2E93-4964-BC01-9C6907CDE1D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3488" y="6162675"/>
            <a:ext cx="3052762" cy="365125"/>
          </a:xfrm>
        </p:spPr>
        <p:txBody>
          <a:bodyPr anchor="ctr"/>
          <a:lstStyle>
            <a:lvl1pPr marL="0" indent="0">
              <a:buNone/>
              <a:defRPr sz="18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AFC5A4FB-E027-4D87-88C8-67A1FFE82FB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90258" y="3816350"/>
            <a:ext cx="5691188" cy="36988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4B465A32-6CAE-4A19-AAE5-D881D94932F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0258" y="4756150"/>
            <a:ext cx="4471988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B73B60A7-C585-48A1-9EE8-5A9161FE1A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090258" y="5805488"/>
            <a:ext cx="2870635" cy="365125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572FF7B0-61BF-4A36-A650-9391F538F97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33488" y="3758803"/>
            <a:ext cx="3052762" cy="42227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Picture Placeholder 79">
            <a:extLst>
              <a:ext uri="{FF2B5EF4-FFF2-40B4-BE49-F238E27FC236}">
                <a16:creationId xmlns:a16="http://schemas.microsoft.com/office/drawing/2014/main" id="{549FE36E-D46D-4D10-B3EF-8CB0D503432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75250" y="3788614"/>
            <a:ext cx="757238" cy="44767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2" name="Picture Placeholder 81">
            <a:extLst>
              <a:ext uri="{FF2B5EF4-FFF2-40B4-BE49-F238E27FC236}">
                <a16:creationId xmlns:a16="http://schemas.microsoft.com/office/drawing/2014/main" id="{EF4A4F86-62F7-4DFE-A835-39FFDCD2E30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175250" y="4453798"/>
            <a:ext cx="469392" cy="909264"/>
          </a:xfr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6" name="Picture Placeholder 85">
            <a:extLst>
              <a:ext uri="{FF2B5EF4-FFF2-40B4-BE49-F238E27FC236}">
                <a16:creationId xmlns:a16="http://schemas.microsoft.com/office/drawing/2014/main" id="{62EBABF4-996C-4F70-AD03-2A7809AC3E7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75250" y="5580570"/>
            <a:ext cx="469392" cy="868229"/>
          </a:xfr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2AA789F-0BF8-4E70-899A-C6CEE3FF1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274" y="136525"/>
            <a:ext cx="11232172" cy="139966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E5B3C0-D344-440F-8A21-D5E6DA477041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/>
          <a:p>
            <a:fld id="{79E3C6BB-94B4-4057-A3BC-13D6F990109B}" type="datetimeFigureOut">
              <a:rPr lang="en-US" noProof="0" smtClean="0"/>
              <a:t>11/6/2025</a:t>
            </a:fld>
            <a:endParaRPr lang="en-US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76C5D2E-1DE8-48AE-9B8C-8DAF5F08FB88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BDFE80-F205-48F7-BE94-FA67D4267E2E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E7F6F2DD-221D-4991-BA23-B2C16AFFF24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51033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E393AE77-BBC0-4DB8-8283-1612D63661C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83324" y="1779588"/>
            <a:ext cx="5803899" cy="379412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DF387B53-4C1E-4EBB-B66F-5D815C17F3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5974" y="1806575"/>
            <a:ext cx="2266950" cy="36830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ACFB326B-C27B-40FF-8F7B-BB633B5465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5974" y="4030663"/>
            <a:ext cx="2266950" cy="35718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5DDF554F-D397-40BF-98A2-1CD8E3769E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7713" y="1806575"/>
            <a:ext cx="2988287" cy="33178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F2164528-2D61-44A0-864B-415FADC928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07713" y="4027488"/>
            <a:ext cx="2988287" cy="38258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E953B0F1-0EC0-4693-AFCE-441B0654C0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83325" y="3422650"/>
            <a:ext cx="5803900" cy="37465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18AE43D2-BDA6-40AB-B941-DC3FB7B566E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83324" y="5081588"/>
            <a:ext cx="5803901" cy="36353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36A5CE-D419-4B5F-9D21-AEFF0E977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974" y="167005"/>
            <a:ext cx="11175026" cy="139966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EEF589-52F5-4662-AE2E-B64C5683F01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9E3C6BB-94B4-4057-A3BC-13D6F990109B}" type="datetimeFigureOut">
              <a:rPr lang="en-US" noProof="0" smtClean="0"/>
              <a:t>11/6/2025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FB119-72A8-4BF8-94DB-60F7C833C15F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1B0BD-CBF4-4496-B066-4A2C9EE35C8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E7F6F2DD-221D-4991-BA23-B2C16AFFF24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37906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Placeholder 124">
            <a:extLst>
              <a:ext uri="{FF2B5EF4-FFF2-40B4-BE49-F238E27FC236}">
                <a16:creationId xmlns:a16="http://schemas.microsoft.com/office/drawing/2014/main" id="{667A1CD4-EB89-4F26-820B-BD6ECCC4CF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4746" y="1836109"/>
            <a:ext cx="3557154" cy="63817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Text Placeholder 126">
            <a:extLst>
              <a:ext uri="{FF2B5EF4-FFF2-40B4-BE49-F238E27FC236}">
                <a16:creationId xmlns:a16="http://schemas.microsoft.com/office/drawing/2014/main" id="{E06BFBA4-664B-4AEC-8485-79D1DF6673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74837" y="4430713"/>
            <a:ext cx="3020693" cy="3651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9" name="Text Placeholder 128">
            <a:extLst>
              <a:ext uri="{FF2B5EF4-FFF2-40B4-BE49-F238E27FC236}">
                <a16:creationId xmlns:a16="http://schemas.microsoft.com/office/drawing/2014/main" id="{804B322E-D1D7-4330-A5EA-165191CF53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55070" y="1853572"/>
            <a:ext cx="3065031" cy="6540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1" name="Text Placeholder 130">
            <a:extLst>
              <a:ext uri="{FF2B5EF4-FFF2-40B4-BE49-F238E27FC236}">
                <a16:creationId xmlns:a16="http://schemas.microsoft.com/office/drawing/2014/main" id="{0A1B5CA3-297C-4BE0-A642-D03AF8DC7F8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48325" y="4455484"/>
            <a:ext cx="3020692" cy="3651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3" name="Text Placeholder 132">
            <a:extLst>
              <a:ext uri="{FF2B5EF4-FFF2-40B4-BE49-F238E27FC236}">
                <a16:creationId xmlns:a16="http://schemas.microsoft.com/office/drawing/2014/main" id="{E1ABB05D-FC3B-41FB-AD21-BA2D713AE1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92096" y="1859922"/>
            <a:ext cx="2499879" cy="33337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59C0539A-1527-4F6E-BD30-B366AA4AF86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807575" y="4235838"/>
            <a:ext cx="2184400" cy="89217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6D36C-9DA4-4DBC-931C-B7432898FB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219075"/>
            <a:ext cx="10933176" cy="137198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7F18826-28C7-45F7-AB47-EE2C77A2D41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79E3C6BB-94B4-4057-A3BC-13D6F990109B}" type="datetimeFigureOut">
              <a:rPr lang="en-US" noProof="0" smtClean="0"/>
              <a:t>11/6/2025</a:t>
            </a:fld>
            <a:endParaRPr lang="en-US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6001C9-38CB-4769-90F3-F3438C4A1A3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425D4F-BE94-4913-BB60-CDC45E694D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7F6F2DD-221D-4991-BA23-B2C16AFFF24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77300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DE47DD52-CC37-47D9-92D2-77DC922FFA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09220" y="4182157"/>
            <a:ext cx="3122612" cy="642938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9519C631-A906-449F-B0D8-91B2CB94C1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1734" y="1857603"/>
            <a:ext cx="2679700" cy="369887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CF308EC1-84C0-4AB9-9485-0FA7E78FFC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44157" y="1857603"/>
            <a:ext cx="2679700" cy="395287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64FF3C53-7B55-4DAC-A4E2-35AF4A931D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9295" y="1857603"/>
            <a:ext cx="2497137" cy="64611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BE804177-8205-4F88-8B63-79A733730C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2845" y="4182157"/>
            <a:ext cx="2503487" cy="365125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EF5AB05C-6C5F-4C94-94E5-1476D391EA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41382" y="4182157"/>
            <a:ext cx="2743200" cy="365125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5B580198-F921-47BD-A8B8-1AD9054BBD1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32182" y="2373089"/>
            <a:ext cx="3122613" cy="1634443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1CE6A-4F2B-4CE0-863A-8E136D0CC3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5" y="179161"/>
            <a:ext cx="10826496" cy="141189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5572283-1183-4441-955D-CF486C2EB34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9E3C6BB-94B4-4057-A3BC-13D6F990109B}" type="datetimeFigureOut">
              <a:rPr lang="en-US" noProof="0" smtClean="0"/>
              <a:t>11/6/2025</a:t>
            </a:fld>
            <a:endParaRPr lang="en-US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837CC6-DAD6-4051-A89A-40A97680EA4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90D05B-5736-40BF-BD75-FAE61DDF765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E7F6F2DD-221D-4991-BA23-B2C16AFFF24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02375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 Placeholder 307">
            <a:extLst>
              <a:ext uri="{FF2B5EF4-FFF2-40B4-BE49-F238E27FC236}">
                <a16:creationId xmlns:a16="http://schemas.microsoft.com/office/drawing/2014/main" id="{BCE8CDD0-2435-4ABB-838A-6551445A0F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4675" y="2251075"/>
            <a:ext cx="2268538" cy="365125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6" name="Text Placeholder 315">
            <a:extLst>
              <a:ext uri="{FF2B5EF4-FFF2-40B4-BE49-F238E27FC236}">
                <a16:creationId xmlns:a16="http://schemas.microsoft.com/office/drawing/2014/main" id="{B3430341-19F1-4394-B54E-41EBC2E9C3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17900" y="2046288"/>
            <a:ext cx="2266950" cy="646112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0" name="Text Placeholder 319">
            <a:extLst>
              <a:ext uri="{FF2B5EF4-FFF2-40B4-BE49-F238E27FC236}">
                <a16:creationId xmlns:a16="http://schemas.microsoft.com/office/drawing/2014/main" id="{99F3B2F1-AE92-48F2-8D64-F8777DE311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26189" y="1768475"/>
            <a:ext cx="3113316" cy="424771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0" name="Text Placeholder 309">
            <a:extLst>
              <a:ext uri="{FF2B5EF4-FFF2-40B4-BE49-F238E27FC236}">
                <a16:creationId xmlns:a16="http://schemas.microsoft.com/office/drawing/2014/main" id="{57F473F3-9780-4049-B5FE-83919A44A2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099" y="3708400"/>
            <a:ext cx="2424113" cy="646113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2" name="Text Placeholder 311">
            <a:extLst>
              <a:ext uri="{FF2B5EF4-FFF2-40B4-BE49-F238E27FC236}">
                <a16:creationId xmlns:a16="http://schemas.microsoft.com/office/drawing/2014/main" id="{5DBBC841-865D-427F-884A-18EB83D082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59125" y="3708400"/>
            <a:ext cx="3449754" cy="646113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4" name="Text Placeholder 323">
            <a:extLst>
              <a:ext uri="{FF2B5EF4-FFF2-40B4-BE49-F238E27FC236}">
                <a16:creationId xmlns:a16="http://schemas.microsoft.com/office/drawing/2014/main" id="{6CCC657A-D0DB-4351-9916-323C53335A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48800" y="1817688"/>
            <a:ext cx="2743200" cy="1754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A97CAB-B907-408B-BAE6-7E60EAA1C21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9099" y="6154966"/>
            <a:ext cx="6189780" cy="424771"/>
          </a:xfrm>
        </p:spPr>
        <p:txBody>
          <a:bodyPr>
            <a:normAutofit/>
          </a:bodyPr>
          <a:lstStyle>
            <a:lvl1pPr marL="0" indent="0" algn="ctr">
              <a:buNone/>
              <a:defRPr sz="14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9DCE17A2-1228-4084-B8F2-21E54F25D49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60028" y="5901873"/>
            <a:ext cx="3113315" cy="917575"/>
          </a:xfrm>
        </p:spPr>
        <p:txBody>
          <a:bodyPr>
            <a:normAutofit/>
          </a:bodyPr>
          <a:lstStyle>
            <a:lvl1pPr marL="0" indent="0" algn="ctr">
              <a:buNone/>
              <a:defRPr sz="14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1C0C6A-748C-4BAA-BE25-30757DDB0E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099" y="164211"/>
            <a:ext cx="10934701" cy="146252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3B3EF9-2E3D-4321-9379-0185BEFA52D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9E3C6BB-94B4-4057-A3BC-13D6F990109B}" type="datetimeFigureOut">
              <a:rPr lang="en-US" noProof="0" smtClean="0"/>
              <a:t>11/6/2025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B9B804-6FB4-4858-BE42-E1E374328B4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8DD47D-60CA-4DF6-A468-083256A764D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7F6F2DD-221D-4991-BA23-B2C16AFFF24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26271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ABA620C-C227-4018-A651-18B1946BB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664527"/>
            <a:ext cx="12192000" cy="52627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1D68029-3934-4C5C-A241-2F25431012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5113" y="1834926"/>
            <a:ext cx="4184057" cy="369888"/>
          </a:xfrm>
          <a:ln>
            <a:noFill/>
          </a:ln>
        </p:spPr>
        <p:txBody>
          <a:bodyPr>
            <a:noAutofit/>
          </a:bodyPr>
          <a:lstStyle>
            <a:lvl1pPr marL="0" indent="0" algn="l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557A677-3147-4104-8080-FD6CC4440E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0688" y="1834926"/>
            <a:ext cx="4086225" cy="646112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485ED590-F7F6-4E8C-A1D6-12CC4B9FFE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58343" y="6243638"/>
            <a:ext cx="3882345" cy="598487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B3F03A-8806-4538-9D7F-CB6E74BC9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219075"/>
            <a:ext cx="10933176" cy="137198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933980A-C040-4372-ADFC-0885D2C8C303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9E3C6BB-94B4-4057-A3BC-13D6F990109B}" type="datetimeFigureOut">
              <a:rPr lang="en-US" noProof="0" smtClean="0"/>
              <a:t>11/6/2025</a:t>
            </a:fld>
            <a:endParaRPr lang="en-US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AC12AFB-CA39-4800-98DD-B04863CD368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B897E52-FD27-46D5-9686-4673859708A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7F6F2DD-221D-4991-BA23-B2C16AFFF24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26521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7363-8886-4B68-BBB9-CE7E6CDC2B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C3B3138-7E6D-43B6-A44C-918E98D92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C6BB-94B4-4057-A3BC-13D6F990109B}" type="datetimeFigureOut">
              <a:rPr lang="en-US" noProof="0" smtClean="0"/>
              <a:t>11/6/2025</a:t>
            </a:fld>
            <a:endParaRPr lang="en-US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77F59F-6724-4659-8FF1-D6926827F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914854-BBC9-429B-A35D-5523103E1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F2DD-221D-4991-BA23-B2C16AFFF24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25033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04A050-9749-4EC2-8D99-AE321E2D578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E321E31-326D-4ED9-889A-C59FF59C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C6BB-94B4-4057-A3BC-13D6F990109B}" type="datetimeFigureOut">
              <a:rPr lang="en-US" noProof="0" smtClean="0"/>
              <a:t>11/6/2025</a:t>
            </a:fld>
            <a:endParaRPr lang="en-US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9F33C1-7794-4F0A-B68F-B8F4EFC05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970A08-AAD4-4503-96CE-6C45F5559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F2DD-221D-4991-BA23-B2C16AFFF24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515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3B45BDD-F7D3-4B1A-88BE-8D9EDCCE830B}"/>
              </a:ext>
            </a:extLst>
          </p:cNvPr>
          <p:cNvSpPr/>
          <p:nvPr userDrawn="1"/>
        </p:nvSpPr>
        <p:spPr>
          <a:xfrm>
            <a:off x="0" y="190"/>
            <a:ext cx="12192000" cy="16735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1D616B-116A-4DA8-8747-324ECAFBE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996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CB574-1063-4B43-B63E-85512CC99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5D32C-0D2C-48EE-A6E0-6675C25A3B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3C6BB-94B4-4057-A3BC-13D6F990109B}" type="datetimeFigureOut">
              <a:rPr lang="en-US" noProof="0" smtClean="0"/>
              <a:t>11/6/2025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C77C9-2CF6-404C-92B6-BCEB6C708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B5D02-ADE3-4D86-BED1-C12944488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6F2DD-221D-4991-BA23-B2C16AFFF24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2641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1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88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mailto:bob@email.com" TargetMode="External"/><Relationship Id="rId2" Type="http://schemas.openxmlformats.org/officeDocument/2006/relationships/hyperlink" Target="mailto:alice@email.com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mailto:zara@email.com" TargetMode="Externa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 descr="Learn to Draw Background">
            <a:extLst>
              <a:ext uri="{FF2B5EF4-FFF2-40B4-BE49-F238E27FC236}">
                <a16:creationId xmlns:a16="http://schemas.microsoft.com/office/drawing/2014/main" id="{7FD9C5C0-919A-48C6-B5A4-49A012EB3DC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27432"/>
            <a:ext cx="12192000" cy="6912864"/>
          </a:xfrm>
        </p:spPr>
      </p:pic>
      <p:sp>
        <p:nvSpPr>
          <p:cNvPr id="21" name="Title 20">
            <a:extLst>
              <a:ext uri="{FF2B5EF4-FFF2-40B4-BE49-F238E27FC236}">
                <a16:creationId xmlns:a16="http://schemas.microsoft.com/office/drawing/2014/main" id="{D4374B7E-EEDF-4C84-BE7C-BB5018382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4000" b="1" dirty="0"/>
              <a:t>SQL (</a:t>
            </a:r>
            <a:r>
              <a:rPr lang="en-GB" sz="4000" b="1" dirty="0" err="1"/>
              <a:t>Sturctured</a:t>
            </a:r>
            <a:r>
              <a:rPr lang="en-GB" sz="4000" b="1" dirty="0"/>
              <a:t> query language</a:t>
            </a:r>
            <a:r>
              <a:rPr lang="tk" sz="4000" b="1" dirty="0"/>
              <a:t>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42376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162F6-A9C5-4709-8D60-264328D36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SQL näme?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069EE3-09F2-4BC4-A273-FE20FDBFE81E}"/>
              </a:ext>
            </a:extLst>
          </p:cNvPr>
          <p:cNvSpPr txBox="1"/>
          <p:nvPr/>
        </p:nvSpPr>
        <p:spPr>
          <a:xfrm>
            <a:off x="1591732" y="3268470"/>
            <a:ext cx="8415867" cy="1702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SQL gurluşly talap dilini aňladýar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SQL maglumat bazalaryna girmäge we dolandyrmaga mümkinçilik berýär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SQL 1986-njy ýylda Amerikanyň Milli standartlar institutynyň (ANSI), 1987-nji ýylda Halkara standartlaşdyryş guramasynyň (ISO) standartyna öwrüldi.</a:t>
            </a:r>
          </a:p>
        </p:txBody>
      </p:sp>
    </p:spTree>
    <p:extLst>
      <p:ext uri="{BB962C8B-B14F-4D97-AF65-F5344CB8AC3E}">
        <p14:creationId xmlns:p14="http://schemas.microsoft.com/office/powerpoint/2010/main" val="272539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55869-E38A-43F6-A331-AA56C8A11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SQL näme edip biler?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EDA388-5BB0-4160-A7F5-A21702C8E3E9}"/>
              </a:ext>
            </a:extLst>
          </p:cNvPr>
          <p:cNvSpPr txBox="1"/>
          <p:nvPr/>
        </p:nvSpPr>
        <p:spPr>
          <a:xfrm>
            <a:off x="2048934" y="2963039"/>
            <a:ext cx="7662333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SQL talaplary maglumat bazasyna garşy ýerine ýetirip biler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SQL maglumatlary maglumatlar bazasyndan alyp biler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SQL maglumatlar bazasyna ýazgylary goýup biler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SQL maglumatlar bazasyndaky ýazgylary täzeläp biler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SQL ýazgylary maglumatlar bazasyndan pozup biler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SQL täze maglumat bazalaryny döredip biler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SQL maglumat bazasynda täze tablisalar döredip biler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SQL maglumatlar bazasynda saklanylýan proseduralary döredip biler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SQL maglumat bazasynda görnüşleri döredip biler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SQL tablisalarda, proseduralarda we görnüşlerde rugsatlary goýup biler</a:t>
            </a:r>
          </a:p>
        </p:txBody>
      </p:sp>
    </p:spTree>
    <p:extLst>
      <p:ext uri="{BB962C8B-B14F-4D97-AF65-F5344CB8AC3E}">
        <p14:creationId xmlns:p14="http://schemas.microsoft.com/office/powerpoint/2010/main" val="4216956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3807F-A9AF-40D6-8E9C-EA07E2DC8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Esasy düşüje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EDC5B-50F0-484D-8CAD-9BB56541E655}"/>
              </a:ext>
            </a:extLst>
          </p:cNvPr>
          <p:cNvSpPr txBox="1"/>
          <p:nvPr/>
        </p:nvSpPr>
        <p:spPr>
          <a:xfrm>
            <a:off x="2053390" y="3601702"/>
            <a:ext cx="73022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dirty="0"/>
              <a:t>SQL hakda </a:t>
            </a:r>
            <a:r>
              <a:rPr lang="tk" b="1" dirty="0"/>
              <a:t>guramaçylykly kömekçi bilen gürleşmek ýaly pikir ediň </a:t>
            </a:r>
            <a:r>
              <a:rPr lang="tk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Isleýän zadyňyzy aýdýarsyňyz </a:t>
            </a:r>
            <a:r>
              <a:rPr lang="tk" dirty="0"/>
              <a:t>( “Maňa 18 ýaşdan uly okuwçylaryň hemmesini beriň”).</a:t>
            </a:r>
          </a:p>
        </p:txBody>
      </p:sp>
    </p:spTree>
    <p:extLst>
      <p:ext uri="{BB962C8B-B14F-4D97-AF65-F5344CB8AC3E}">
        <p14:creationId xmlns:p14="http://schemas.microsoft.com/office/powerpoint/2010/main" val="2857302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C2AE0-FD15-4BA9-932D-9D90A6297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dirty="0"/>
              <a:t>Taryhy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F66CE1-59F3-40E6-A89E-DC732146D459}"/>
              </a:ext>
            </a:extLst>
          </p:cNvPr>
          <p:cNvSpPr txBox="1"/>
          <p:nvPr/>
        </p:nvSpPr>
        <p:spPr>
          <a:xfrm>
            <a:off x="1972734" y="3082204"/>
            <a:ext cx="79840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dirty="0"/>
              <a:t>SQL </a:t>
            </a:r>
            <a:r>
              <a:rPr lang="tk" b="1" dirty="0"/>
              <a:t>ilkinji gezek 1970-nji ýyllaryň başynda işlenip düzüldi </a:t>
            </a:r>
            <a:r>
              <a:rPr lang="tk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IBM barlagçylary Donald D. Çemberlin we Reýmond F. Boýs </a:t>
            </a:r>
            <a:r>
              <a:rPr lang="tk" dirty="0"/>
              <a:t>tarapyndan döredildi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Asyl ady </a:t>
            </a:r>
            <a:r>
              <a:rPr lang="tk" b="1" dirty="0"/>
              <a:t>SEQUEL </a:t>
            </a:r>
            <a:r>
              <a:rPr lang="tk" dirty="0"/>
              <a:t>(Düzülen Iňlis talaplary dili).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1979- </a:t>
            </a:r>
            <a:r>
              <a:rPr lang="tk" dirty="0"/>
              <a:t>njy ýylda Oracle SQL-iň giňden kabul edilmegine kömek eden </a:t>
            </a:r>
            <a:r>
              <a:rPr lang="tk" b="1" dirty="0"/>
              <a:t>ilkinji täjirçilik SQL esasly maglumat bazasyny çykardy.</a:t>
            </a:r>
          </a:p>
        </p:txBody>
      </p:sp>
    </p:spTree>
    <p:extLst>
      <p:ext uri="{BB962C8B-B14F-4D97-AF65-F5344CB8AC3E}">
        <p14:creationId xmlns:p14="http://schemas.microsoft.com/office/powerpoint/2010/main" val="2373482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629EC-3926-4487-86DF-AD0F94527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SQL standart - Ýöne ....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7668C7-0C24-4959-9B99-8346F8EE7224}"/>
              </a:ext>
            </a:extLst>
          </p:cNvPr>
          <p:cNvSpPr txBox="1"/>
          <p:nvPr/>
        </p:nvSpPr>
        <p:spPr>
          <a:xfrm>
            <a:off x="1744132" y="2600236"/>
            <a:ext cx="99024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SQL ANSI / ISO standarty bolsa-da, SQL diliniň dürli wersiýalary bar.</a:t>
            </a:r>
          </a:p>
          <a:p>
            <a:br>
              <a:rPr lang="en-GB" dirty="0"/>
            </a:br>
            <a:endParaRPr lang="en-GB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01D7731-91E0-420A-8D98-1F4221FED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4133" y="3800565"/>
            <a:ext cx="9609667" cy="9233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k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Şeýle-de bolsa, ANSI standartyna laýyk bolmak üçin hemmesi iň bolmanda esasy buýruklary ( </a:t>
            </a:r>
            <a:r>
              <a:rPr kumimoji="0" lang="tk" altLang="en-US" sz="1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SELECT </a:t>
            </a:r>
            <a:r>
              <a:rPr kumimoji="0" lang="tk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kumimoji="0" lang="tk" altLang="en-US" sz="1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UPDATE </a:t>
            </a:r>
            <a:r>
              <a:rPr kumimoji="0" lang="tk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kumimoji="0" lang="tk" altLang="en-US" sz="1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DELETE </a:t>
            </a:r>
            <a:r>
              <a:rPr kumimoji="0" lang="tk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kumimoji="0" lang="tk" altLang="en-US" sz="1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INSERT </a:t>
            </a:r>
            <a:r>
              <a:rPr kumimoji="0" lang="tk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kumimoji="0" lang="tk" altLang="en-US" sz="1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WHERE </a:t>
            </a:r>
            <a:r>
              <a:rPr kumimoji="0" lang="tk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goldaýar.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471862-B925-4D36-A337-49C2B97309FF}"/>
              </a:ext>
            </a:extLst>
          </p:cNvPr>
          <p:cNvSpPr txBox="1"/>
          <p:nvPr/>
        </p:nvSpPr>
        <p:spPr>
          <a:xfrm>
            <a:off x="1744132" y="4968397"/>
            <a:ext cx="80348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k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Bellik: </a:t>
            </a: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SQL maglumat bazasy programmalarynyň köpüsinde SQL standartyna goşmaça öz eýeçilik giňeltmeleri bar!</a:t>
            </a:r>
          </a:p>
          <a:p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7916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14E65-5394-4689-BE8E-E11C89401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Meşhur SQL esasly maglumat bazalary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576EEB-9128-488B-A486-80C19F8E7074}"/>
              </a:ext>
            </a:extLst>
          </p:cNvPr>
          <p:cNvSpPr txBox="1"/>
          <p:nvPr/>
        </p:nvSpPr>
        <p:spPr>
          <a:xfrm>
            <a:off x="2988733" y="342900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PostgreSQL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Açyk çeşme, yokary ygtybarly.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Çylşyrymly </a:t>
            </a:r>
            <a:r>
              <a:rPr lang="en-GB" dirty="0"/>
              <a:t>query</a:t>
            </a:r>
            <a:r>
              <a:rPr lang="tk" dirty="0"/>
              <a:t> we uly maglumat bazalary üçin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JSON, doly tekst gözlegi we aýratyn funksiýalar ýaly ösen aýratynlyklary goldaýar.</a:t>
            </a:r>
          </a:p>
        </p:txBody>
      </p:sp>
    </p:spTree>
    <p:extLst>
      <p:ext uri="{BB962C8B-B14F-4D97-AF65-F5344CB8AC3E}">
        <p14:creationId xmlns:p14="http://schemas.microsoft.com/office/powerpoint/2010/main" val="793375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0645-E287-4886-A8EC-C2DF43925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Meşhur SQL esasly maglumat bazalary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2C6D34-0AD7-4CC2-A823-971FA8924A8D}"/>
              </a:ext>
            </a:extLst>
          </p:cNvPr>
          <p:cNvSpPr txBox="1"/>
          <p:nvPr/>
        </p:nvSpPr>
        <p:spPr>
          <a:xfrm>
            <a:off x="3048000" y="271030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MySQL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Web programmalary üçin giňden ulanylýan açyk çeşme.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Pleönekeý, çalt we başlangyç üçin amatly.</a:t>
            </a:r>
          </a:p>
        </p:txBody>
      </p:sp>
    </p:spTree>
    <p:extLst>
      <p:ext uri="{BB962C8B-B14F-4D97-AF65-F5344CB8AC3E}">
        <p14:creationId xmlns:p14="http://schemas.microsoft.com/office/powerpoint/2010/main" val="2736291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A31D8-722C-4FD1-9122-B8B2795F3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Meşhur SQL esasly maglumat bazalary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C330CE-6579-4253-A193-8F32474F2BC5}"/>
              </a:ext>
            </a:extLst>
          </p:cNvPr>
          <p:cNvSpPr txBox="1"/>
          <p:nvPr/>
        </p:nvSpPr>
        <p:spPr>
          <a:xfrm>
            <a:off x="3048000" y="271030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Oracle maglumat bazasy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Uly kompaniýalarda giňden ulanylýan söwda bazasy.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Örän güýçli, ygtybarly we göwrümli.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Çylşyrymly amallary we analitikleri goldaýar.</a:t>
            </a:r>
          </a:p>
        </p:txBody>
      </p:sp>
    </p:spTree>
    <p:extLst>
      <p:ext uri="{BB962C8B-B14F-4D97-AF65-F5344CB8AC3E}">
        <p14:creationId xmlns:p14="http://schemas.microsoft.com/office/powerpoint/2010/main" val="3781783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711E-8E16-43BF-B8D1-9B183EFA5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Meşhur SQL esasly maglumat bazalary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661111-28EF-42E7-AF6C-50E4D71D87D1}"/>
              </a:ext>
            </a:extLst>
          </p:cNvPr>
          <p:cNvSpPr txBox="1"/>
          <p:nvPr/>
        </p:nvSpPr>
        <p:spPr>
          <a:xfrm>
            <a:off x="3048000" y="271030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Microsoft SQL Serweri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Windows gurşawynda meşhur.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Microsoft önümleri bilen gowy integrasiýa.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Hasabat we iş aňy üçin güýçli gurallary bar.</a:t>
            </a:r>
          </a:p>
        </p:txBody>
      </p:sp>
    </p:spTree>
    <p:extLst>
      <p:ext uri="{BB962C8B-B14F-4D97-AF65-F5344CB8AC3E}">
        <p14:creationId xmlns:p14="http://schemas.microsoft.com/office/powerpoint/2010/main" val="2045946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03B52-9711-4229-92FD-4C9260B46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Meşhur SQL esasly maglumat bazalary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BC6C9C-7D55-4BC7-98FF-BBE736DAFC15}"/>
              </a:ext>
            </a:extLst>
          </p:cNvPr>
          <p:cNvSpPr txBox="1"/>
          <p:nvPr/>
        </p:nvSpPr>
        <p:spPr>
          <a:xfrm>
            <a:off x="3048000" y="271030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SQLite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Lighteňil, faýl esasly maglumat bazasy.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Kiçijik taslamalar, programmalar ýa-da synag üçin ajaýyp.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Aýry-aýry işleýän serwer gerek däl.</a:t>
            </a:r>
          </a:p>
        </p:txBody>
      </p:sp>
    </p:spTree>
    <p:extLst>
      <p:ext uri="{BB962C8B-B14F-4D97-AF65-F5344CB8AC3E}">
        <p14:creationId xmlns:p14="http://schemas.microsoft.com/office/powerpoint/2010/main" val="3795942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FB899-D267-475D-B7FE-2C292C98E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Meşhur SQL esasly maglumat bazalary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6D34FE-D104-484E-AB10-F9DFAC23CE79}"/>
              </a:ext>
            </a:extLst>
          </p:cNvPr>
          <p:cNvSpPr txBox="1"/>
          <p:nvPr/>
        </p:nvSpPr>
        <p:spPr>
          <a:xfrm>
            <a:off x="3048000" y="271030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MariaDB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MySQL</a:t>
            </a:r>
            <a:r>
              <a:rPr lang="en-GB" dirty="0"/>
              <a:t> </a:t>
            </a:r>
            <a:r>
              <a:rPr lang="tk" dirty="0"/>
              <a:t> </a:t>
            </a:r>
            <a:r>
              <a:rPr lang="en-GB" dirty="0"/>
              <a:t>fork </a:t>
            </a:r>
            <a:r>
              <a:rPr lang="tk" dirty="0"/>
              <a:t>, doly açyk çeşme.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MySQL bilen gabat gelýär, ýöne goşmaça aýratynlyklar we gowulaşmalar </a:t>
            </a:r>
            <a:r>
              <a:rPr lang="en-GB" dirty="0" err="1"/>
              <a:t>girizilen</a:t>
            </a:r>
            <a:r>
              <a:rPr lang="tk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A2E713-0549-4642-9D7D-59DF692B435F}"/>
              </a:ext>
            </a:extLst>
          </p:cNvPr>
          <p:cNvSpPr txBox="1"/>
          <p:nvPr/>
        </p:nvSpPr>
        <p:spPr>
          <a:xfrm>
            <a:off x="1572126" y="4951568"/>
            <a:ext cx="77412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dirty="0"/>
              <a:t>Bularyň hemmesi </a:t>
            </a:r>
            <a:r>
              <a:rPr lang="tk" b="1" dirty="0"/>
              <a:t>SQL bilen maglumatlar bilen täsirleşmek üçin ulanýarlar, ýöne </a:t>
            </a:r>
            <a:r>
              <a:rPr lang="en-GB" b="1" dirty="0"/>
              <a:t>performance</a:t>
            </a:r>
            <a:r>
              <a:rPr lang="tk" b="1" dirty="0"/>
              <a:t>, </a:t>
            </a:r>
            <a:r>
              <a:rPr lang="en-GB" b="1" dirty="0"/>
              <a:t>features</a:t>
            </a:r>
            <a:r>
              <a:rPr lang="tk" b="1" dirty="0"/>
              <a:t> we </a:t>
            </a:r>
            <a:r>
              <a:rPr lang="en-GB" b="1" dirty="0"/>
              <a:t>scale</a:t>
            </a:r>
            <a:r>
              <a:rPr lang="tk" b="1" dirty="0"/>
              <a:t> </a:t>
            </a:r>
            <a:r>
              <a:rPr lang="tk" dirty="0"/>
              <a:t>boýunça tapawutlanýar .</a:t>
            </a:r>
          </a:p>
        </p:txBody>
      </p:sp>
    </p:spTree>
    <p:extLst>
      <p:ext uri="{BB962C8B-B14F-4D97-AF65-F5344CB8AC3E}">
        <p14:creationId xmlns:p14="http://schemas.microsoft.com/office/powerpoint/2010/main" val="806137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BB1BD-1FA1-4416-868F-76165C423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RDBMS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6CC094-59D7-4329-9F4A-7356A87F44E5}"/>
              </a:ext>
            </a:extLst>
          </p:cNvPr>
          <p:cNvSpPr txBox="1"/>
          <p:nvPr/>
        </p:nvSpPr>
        <p:spPr>
          <a:xfrm>
            <a:off x="1947334" y="2827572"/>
            <a:ext cx="79671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RDBMS baglanyşyk maglumatlar bazasyny dolandyrmak ulgamyny aňladýar.</a:t>
            </a:r>
          </a:p>
          <a:p>
            <a:pPr algn="l"/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RDBMS SQL we MS SQL Server, IBM DB2, Oracle, MySQL we Microsoft Access ýaly häzirki zaman maglumatlar binýady ulgamlary üçin esas bolup durýar.</a:t>
            </a:r>
          </a:p>
          <a:p>
            <a:pPr algn="l"/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RDBMS-daky maglumatlar tablisa diýilýän maglumatlar binýadynda saklanýar. Tablisa degişli maglumatlar ýazgylarynyň ýygyndysy bolup, sütünlerden we hatarlardan durýar.</a:t>
            </a:r>
          </a:p>
        </p:txBody>
      </p:sp>
    </p:spTree>
    <p:extLst>
      <p:ext uri="{BB962C8B-B14F-4D97-AF65-F5344CB8AC3E}">
        <p14:creationId xmlns:p14="http://schemas.microsoft.com/office/powerpoint/2010/main" val="4290929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9F4C6-87A0-4181-8527-5C6192250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RDBMS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AEE53-1EEC-4479-B4F2-F7AA5CFD0C3C}"/>
              </a:ext>
            </a:extLst>
          </p:cNvPr>
          <p:cNvSpPr txBox="1"/>
          <p:nvPr/>
        </p:nvSpPr>
        <p:spPr>
          <a:xfrm>
            <a:off x="1684866" y="2796106"/>
            <a:ext cx="7264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Her tablisa </a:t>
            </a:r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field</a:t>
            </a: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diýilýän kiçi guramalara bölünýär. Müşderiler tablisasyndaky meýdanlar </a:t>
            </a:r>
            <a:r>
              <a:rPr lang="tk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CustomerID </a:t>
            </a: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tk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CustomerName </a:t>
            </a: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tk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ContactName </a:t>
            </a: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Salgy, Şäher, </a:t>
            </a:r>
            <a:r>
              <a:rPr lang="tk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Poçta kody </a:t>
            </a: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we ýurtdan ybarat. Meýdan, tablisadaky her ýazgy barada anyk maglumatlary saklamak üçin döredilen tablisadaky sütün.</a:t>
            </a:r>
          </a:p>
          <a:p>
            <a:pPr algn="l"/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Setir diýlip atlandyrylýan ýazgy, tablisada bar bolan her bir ýazgydyr. Sütün, tablisadaky belli bir </a:t>
            </a:r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field</a:t>
            </a: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bilen baglanyşykly ähli maglumatlary öz içine alý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ar</a:t>
            </a:r>
            <a:r>
              <a:rPr lang="tk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4000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4FDC0-241C-47C5-A636-4A041839F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SQL buýruk görnüşleriniň sanawy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7AEDBB-601C-44D9-9A29-F2D88E3DEED2}"/>
              </a:ext>
            </a:extLst>
          </p:cNvPr>
          <p:cNvSpPr txBox="1"/>
          <p:nvPr/>
        </p:nvSpPr>
        <p:spPr>
          <a:xfrm>
            <a:off x="2827867" y="308700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DDL – Data Definition Language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DML – Data Manipulation Language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DQL – Data Query Language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DCL – Data Control Language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TCL – Transaction Control Language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226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21ADF-69A2-4642-BF1F-252AF08D6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5237B1-3E69-49EA-900E-73AC217F7F1E}"/>
              </a:ext>
            </a:extLst>
          </p:cNvPr>
          <p:cNvSpPr txBox="1"/>
          <p:nvPr/>
        </p:nvSpPr>
        <p:spPr>
          <a:xfrm>
            <a:off x="2760134" y="241333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1. DDL - Maglumatlary kesgitlemek dili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Maksady: </a:t>
            </a:r>
            <a:r>
              <a:rPr lang="tk" dirty="0"/>
              <a:t>Maglumat bazasynyň gurluşyny kesgitl</a:t>
            </a:r>
            <a:r>
              <a:rPr lang="en-GB" dirty="0" err="1"/>
              <a:t>emek</a:t>
            </a:r>
            <a:r>
              <a:rPr lang="en-GB" dirty="0"/>
              <a:t> </a:t>
            </a:r>
            <a:r>
              <a:rPr lang="tk-TM" dirty="0"/>
              <a:t>ýada </a:t>
            </a:r>
            <a:r>
              <a:rPr lang="tk" dirty="0"/>
              <a:t> üýtgetmek.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Näme edýär: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Tablisalary, maglumat bazalaryny ýa-da indeksleri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Tablisalary gurluşlaryny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Tablisalary pozmak</a:t>
            </a:r>
          </a:p>
          <a:p>
            <a:r>
              <a:rPr lang="tk" dirty="0"/>
              <a:t> </a:t>
            </a:r>
            <a:r>
              <a:rPr lang="tk" b="1" dirty="0"/>
              <a:t>“Maglumat bazasyny gurmak we taslamak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2062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0CAA2-90BF-4435-9793-F8CF77D25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8081DF-6579-4748-91DB-8FE06EBAEDB8}"/>
              </a:ext>
            </a:extLst>
          </p:cNvPr>
          <p:cNvSpPr txBox="1"/>
          <p:nvPr/>
        </p:nvSpPr>
        <p:spPr>
          <a:xfrm>
            <a:off x="3048000" y="2294804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2. DML - Maglumatlary dolandyrmak dili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Maksady: </a:t>
            </a:r>
            <a:r>
              <a:rPr lang="tk" dirty="0"/>
              <a:t>Tablisalaryň içindäki hakyky maglumatlar bilen işlemek.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Näme edýär: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Täze ýazgylar goş</a:t>
            </a:r>
            <a:r>
              <a:rPr lang="en-GB" dirty="0" err="1"/>
              <a:t>mak</a:t>
            </a:r>
            <a:endParaRPr lang="tk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Bar bolan ýazgylary täze</a:t>
            </a:r>
            <a:r>
              <a:rPr lang="en-GB" dirty="0" err="1"/>
              <a:t>lemek</a:t>
            </a:r>
            <a:endParaRPr lang="tk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Re</a:t>
            </a:r>
            <a:r>
              <a:rPr lang="en-GB" dirty="0"/>
              <a:t>cord</a:t>
            </a:r>
            <a:r>
              <a:rPr lang="tk" dirty="0"/>
              <a:t> poz</a:t>
            </a:r>
            <a:r>
              <a:rPr lang="en-GB" dirty="0" err="1"/>
              <a:t>mak</a:t>
            </a:r>
            <a:endParaRPr lang="tk" dirty="0"/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Pikir ediň:</a:t>
            </a:r>
            <a:r>
              <a:rPr lang="tk" dirty="0"/>
              <a:t> </a:t>
            </a:r>
            <a:r>
              <a:rPr lang="tk" b="1" dirty="0"/>
              <a:t>"Maglumat goşmak, redaktirlemek ýa-da aýyrmak"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6929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828E2-48F2-435A-888F-AD4147E5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C55BB1-4CC0-4EAF-AE2E-8F2D61C0EEC9}"/>
              </a:ext>
            </a:extLst>
          </p:cNvPr>
          <p:cNvSpPr txBox="1"/>
          <p:nvPr/>
        </p:nvSpPr>
        <p:spPr>
          <a:xfrm>
            <a:off x="3048000" y="2433303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3. DQL - Maglumat talaplary dili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Maksady: </a:t>
            </a:r>
            <a:r>
              <a:rPr lang="tk" dirty="0"/>
              <a:t>Maglumat bazasyndan maglumatlary alyň ýa-da okaň.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Näme edýär: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Maglumat bazasynyň soraglaryny beriň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Maglumatlary süzüň, tertipläň ýa-da jemläň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Pikir ediň:</a:t>
            </a:r>
            <a:r>
              <a:rPr lang="tk" dirty="0"/>
              <a:t> </a:t>
            </a:r>
            <a:r>
              <a:rPr lang="tk" b="1" dirty="0"/>
              <a:t>"Maglumat bazasyny soramak"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9538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7DB18-FCDE-4B59-AD13-A1637F651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60FF10-7E1D-4451-B4AF-F2DA9BD09EBF}"/>
              </a:ext>
            </a:extLst>
          </p:cNvPr>
          <p:cNvSpPr txBox="1"/>
          <p:nvPr/>
        </p:nvSpPr>
        <p:spPr>
          <a:xfrm>
            <a:off x="3048000" y="2433303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4. DCL - Maglumatlara gözegçilik dili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Maksady: </a:t>
            </a:r>
            <a:r>
              <a:rPr lang="tk" dirty="0"/>
              <a:t>Ulanyjylar üçin giriş we rugsatlar.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Näme edýär: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Ulanyjylara maglumatlary okamaga ýa-da üýtgetmäge rugsat beriň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Rugsatnamalary aýyryň</a:t>
            </a:r>
          </a:p>
          <a:p>
            <a:r>
              <a:rPr lang="tk" b="1" dirty="0"/>
              <a:t>"Maglumat bazasynda</a:t>
            </a:r>
            <a:r>
              <a:rPr lang="en-GB" b="1" dirty="0"/>
              <a:t> </a:t>
            </a:r>
            <a:r>
              <a:rPr lang="en-GB" b="1" dirty="0" err="1"/>
              <a:t>kimi</a:t>
            </a:r>
            <a:r>
              <a:rPr lang="tk-TM" b="1" dirty="0"/>
              <a:t>ň </a:t>
            </a:r>
            <a:r>
              <a:rPr lang="tk" b="1" dirty="0"/>
              <a:t> n</a:t>
            </a:r>
            <a:r>
              <a:rPr lang="en-GB" b="1" dirty="0"/>
              <a:t>a</a:t>
            </a:r>
            <a:r>
              <a:rPr lang="tk" b="1" dirty="0"/>
              <a:t>me edip biljekdigini dolandyrmak"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8590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EB272-7BFE-4B28-8489-A394E2A1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C532D-5669-4278-96C4-4844D2305AEE}"/>
              </a:ext>
            </a:extLst>
          </p:cNvPr>
          <p:cNvSpPr txBox="1"/>
          <p:nvPr/>
        </p:nvSpPr>
        <p:spPr>
          <a:xfrm>
            <a:off x="2937933" y="276350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Esasy pikir: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DDL </a:t>
            </a:r>
            <a:r>
              <a:rPr lang="tk" dirty="0"/>
              <a:t>→ gurluşy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DML </a:t>
            </a:r>
            <a:r>
              <a:rPr lang="tk" dirty="0"/>
              <a:t>→ maglumatlary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DQL </a:t>
            </a:r>
            <a:r>
              <a:rPr lang="tk" dirty="0"/>
              <a:t>→ talaplary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DCL </a:t>
            </a:r>
            <a:r>
              <a:rPr lang="tk" dirty="0"/>
              <a:t>→ rugsatlary</a:t>
            </a:r>
          </a:p>
        </p:txBody>
      </p:sp>
    </p:spTree>
    <p:extLst>
      <p:ext uri="{BB962C8B-B14F-4D97-AF65-F5344CB8AC3E}">
        <p14:creationId xmlns:p14="http://schemas.microsoft.com/office/powerpoint/2010/main" val="871261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DD474-F6B7-4ECB-916A-69ECADF26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näme?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E022ED-33B7-43FB-BC0C-25D98813BCFC}"/>
              </a:ext>
            </a:extLst>
          </p:cNvPr>
          <p:cNvSpPr txBox="1"/>
          <p:nvPr/>
        </p:nvSpPr>
        <p:spPr>
          <a:xfrm>
            <a:off x="2480733" y="20983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sz="1800" b="1" dirty="0"/>
              <a:t>Maglumat </a:t>
            </a:r>
            <a:r>
              <a:rPr lang="tk" sz="1800" dirty="0"/>
              <a:t>çig maglumat ýa-da zatlary suratlandyrýan, ýöne tertiplenýänçä manysy ýok faktlardyr.</a:t>
            </a:r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326101-BAFE-4B28-9602-72FAD46E7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583671"/>
              </p:ext>
            </p:extLst>
          </p:nvPr>
        </p:nvGraphicFramePr>
        <p:xfrm>
          <a:off x="838200" y="3191881"/>
          <a:ext cx="10515600" cy="27432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20985906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45677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tk" b="1"/>
                        <a:t>Maglumatlaryň görnüşi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b="1"/>
                        <a:t>Mysal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3353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Talyp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/>
                        <a:t>Ady: Alisa: yas 20, ID: 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863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Kurs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/>
                        <a:t>Ady: “Matematika 101”, kredit: 3, Mugallym: jenap Smit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3017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Aýlyk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/>
                        <a:t>Işgär: Jon, mukdary: 2000 $, aý: noýabr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3621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Haryt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/>
                        <a:t>Ady: Noutbuk, Bahasy: 800 $, Bir Stocka: 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8387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 dirty="0"/>
                        <a:t>Çäre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/>
                        <a:t>Sene: 2025-11-05, ýerleşýän ýeri: Aşgabat, Gatnaşanlar: 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0774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9003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5A711-BA89-4B06-BE34-F7B13A3A3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 näme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6A2405-F9B5-4C91-905A-A0B78E84BDBA}"/>
              </a:ext>
            </a:extLst>
          </p:cNvPr>
          <p:cNvSpPr txBox="1"/>
          <p:nvPr/>
        </p:nvSpPr>
        <p:spPr>
          <a:xfrm>
            <a:off x="1524000" y="2157568"/>
            <a:ext cx="7606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Maglumatlar bazasy aňsatlyk bilen girip, täzelenip we </a:t>
            </a:r>
            <a:r>
              <a:rPr lang="tk" dirty="0" err="1"/>
              <a:t>derňelip </a:t>
            </a:r>
            <a:r>
              <a:rPr lang="tk" dirty="0"/>
              <a:t>bilner ýaly saklanýan we dolandyrylýan maglumatlaryň gurluşly ýygyndysydyr 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89C176-6569-4268-8E8C-8EBBAE9F0268}"/>
              </a:ext>
            </a:extLst>
          </p:cNvPr>
          <p:cNvSpPr txBox="1"/>
          <p:nvPr/>
        </p:nvSpPr>
        <p:spPr>
          <a:xfrm>
            <a:off x="705852" y="3425275"/>
            <a:ext cx="100102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Maglumat bazasynyň maksady:</a:t>
            </a:r>
          </a:p>
          <a:p>
            <a:pPr>
              <a:buFont typeface="+mj-lt"/>
              <a:buAutoNum type="arabicPeriod"/>
            </a:pPr>
            <a:r>
              <a:rPr lang="tk" b="1" dirty="0"/>
              <a:t>Maglumatlary tertipläň </a:t>
            </a:r>
            <a:r>
              <a:rPr lang="tk" dirty="0"/>
              <a:t>- Maglumatlary tablisalarda, hatarlardan we sütünlerden düzülýär.</a:t>
            </a:r>
          </a:p>
          <a:p>
            <a:pPr>
              <a:buFont typeface="+mj-lt"/>
              <a:buAutoNum type="arabicPeriod"/>
            </a:pPr>
            <a:r>
              <a:rPr lang="tk" b="1" dirty="0"/>
              <a:t>Köp mukdarda maglumatlary saklaň </a:t>
            </a:r>
            <a:r>
              <a:rPr lang="tk" dirty="0"/>
              <a:t>- Müňlerçe ýa-da millionlarça ýazgylary netijeli saklap bilýar.</a:t>
            </a:r>
          </a:p>
          <a:p>
            <a:pPr>
              <a:buFont typeface="+mj-lt"/>
              <a:buAutoNum type="arabicPeriod"/>
            </a:pPr>
            <a:r>
              <a:rPr lang="tk" b="1" dirty="0"/>
              <a:t>Maglumatlary çalt alyň </a:t>
            </a:r>
            <a:r>
              <a:rPr lang="tk" dirty="0"/>
              <a:t>- Maglumatlary gözlemäge, süzmäge we tertipleşdirmäge mümkinçilik berýär.</a:t>
            </a:r>
          </a:p>
          <a:p>
            <a:pPr>
              <a:buFont typeface="+mj-lt"/>
              <a:buAutoNum type="arabicPeriod"/>
            </a:pPr>
            <a:r>
              <a:rPr lang="tk" b="1" dirty="0"/>
              <a:t>Maglumatlaryň bitewiligini üpjün ediň </a:t>
            </a:r>
            <a:r>
              <a:rPr lang="tk" dirty="0"/>
              <a:t>– errorlaryň öňüni alýar we  primary key ýaly düzgünler bilen takyklygy saklaýar.</a:t>
            </a:r>
          </a:p>
          <a:p>
            <a:pPr>
              <a:buFont typeface="+mj-lt"/>
              <a:buAutoNum type="arabicPeriod"/>
            </a:pPr>
            <a:r>
              <a:rPr lang="tk" b="1" dirty="0"/>
              <a:t>Maglumatlary ygtybarly paýlaşyň </a:t>
            </a:r>
            <a:r>
              <a:rPr lang="tk" dirty="0"/>
              <a:t>- Birnäçe ulanyjy gözegçilik edilýän rugsatlar bilen şol bir maglumat bazasyna girip biler.</a:t>
            </a:r>
          </a:p>
        </p:txBody>
      </p:sp>
    </p:spTree>
    <p:extLst>
      <p:ext uri="{BB962C8B-B14F-4D97-AF65-F5344CB8AC3E}">
        <p14:creationId xmlns:p14="http://schemas.microsoft.com/office/powerpoint/2010/main" val="1193546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CB34B-33A3-488A-B761-365CE7BFD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Maglumatlar bazasy we faýl ulgamy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14C053-4540-4E14-B1EB-E27EE070FBDC}"/>
              </a:ext>
            </a:extLst>
          </p:cNvPr>
          <p:cNvSpPr txBox="1"/>
          <p:nvPr/>
        </p:nvSpPr>
        <p:spPr>
          <a:xfrm>
            <a:off x="2954866" y="3079803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Gurama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Faýl ulgamy: </a:t>
            </a:r>
            <a:r>
              <a:rPr lang="tk" dirty="0"/>
              <a:t>Maglumatlary aýratyn faýllarda saklaýar (tekst ýa-da Excel faýllary ýaly). Baglanyşykly maglumatlary baglanyşdyrmak kyn.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Maglumatlar bazasy: </a:t>
            </a:r>
            <a:r>
              <a:rPr lang="tk" dirty="0"/>
              <a:t>Maglumatlary hatar we sütünler bilen düzülen tablisalarda saklaýar. </a:t>
            </a:r>
          </a:p>
        </p:txBody>
      </p:sp>
    </p:spTree>
    <p:extLst>
      <p:ext uri="{BB962C8B-B14F-4D97-AF65-F5344CB8AC3E}">
        <p14:creationId xmlns:p14="http://schemas.microsoft.com/office/powerpoint/2010/main" val="13014388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9DC96-2914-45D7-A1DE-D33812A41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Maglumatlaryň bitewiligi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BD22D9-08DA-4F2B-B810-0FAE5BA758C6}"/>
              </a:ext>
            </a:extLst>
          </p:cNvPr>
          <p:cNvSpPr txBox="1"/>
          <p:nvPr/>
        </p:nvSpPr>
        <p:spPr>
          <a:xfrm>
            <a:off x="3048000" y="269033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Maglumatlaryň bitewiligi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Faýl ulgamy: </a:t>
            </a:r>
            <a:r>
              <a:rPr lang="tk" dirty="0"/>
              <a:t>Gurlan düzgün ýok. </a:t>
            </a:r>
            <a:r>
              <a:rPr lang="tk-TM" dirty="0"/>
              <a:t>Ýalňyş </a:t>
            </a:r>
            <a:r>
              <a:rPr lang="tk" dirty="0"/>
              <a:t>goýbermek aňsat (maglumatlary köpeltmek ýa-da gabat gelmezlik).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Maglumat bazasy: </a:t>
            </a:r>
            <a:r>
              <a:rPr lang="tk" dirty="0"/>
              <a:t>Maglumatlaryň takyk bolmagy üçin düzgünleri ýerine ýetirýär (primary keys, </a:t>
            </a:r>
            <a:r>
              <a:rPr lang="en-US" dirty="0"/>
              <a:t>unique</a:t>
            </a:r>
            <a:r>
              <a:rPr lang="tk" dirty="0"/>
              <a:t> çäklendirmeler).</a:t>
            </a:r>
          </a:p>
        </p:txBody>
      </p:sp>
    </p:spTree>
    <p:extLst>
      <p:ext uri="{BB962C8B-B14F-4D97-AF65-F5344CB8AC3E}">
        <p14:creationId xmlns:p14="http://schemas.microsoft.com/office/powerpoint/2010/main" val="13501334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567D7-D189-458E-BE18-9E9E9F445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5FD22-C555-492F-A456-0B3214B8E39A}"/>
              </a:ext>
            </a:extLst>
          </p:cNvPr>
          <p:cNvSpPr txBox="1"/>
          <p:nvPr/>
        </p:nvSpPr>
        <p:spPr>
          <a:xfrm>
            <a:off x="3048000" y="257180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Maglumatlaryň elýeterliligi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Faýl ulgamy: </a:t>
            </a:r>
            <a:r>
              <a:rPr lang="tk" dirty="0"/>
              <a:t>Maglumatlary gözlemek, tertiplemek ýa-da süzmek haýal we el bilen.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Maglumat bazasy: </a:t>
            </a:r>
            <a:r>
              <a:rPr lang="tk" dirty="0"/>
              <a:t>Size zerur zady tapmak üçin SQL ulanyp çalt talaplar.</a:t>
            </a:r>
          </a:p>
        </p:txBody>
      </p:sp>
    </p:spTree>
    <p:extLst>
      <p:ext uri="{BB962C8B-B14F-4D97-AF65-F5344CB8AC3E}">
        <p14:creationId xmlns:p14="http://schemas.microsoft.com/office/powerpoint/2010/main" val="2968730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4B75D-E8B9-46E2-928E-6A1E164D4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D9A63-CE63-447F-92C6-0340ED0D5BB6}"/>
              </a:ext>
            </a:extLst>
          </p:cNvPr>
          <p:cNvSpPr txBox="1"/>
          <p:nvPr/>
        </p:nvSpPr>
        <p:spPr>
          <a:xfrm>
            <a:off x="3048000" y="257180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Köp ulanyjy goldawy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Faýl ulgamy: </a:t>
            </a:r>
            <a:r>
              <a:rPr lang="tk" dirty="0"/>
              <a:t>Bir wagtyň özünde birnäçe ulanyja ygtybarly rugsat bermek kyn.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Maglumat bazasy: </a:t>
            </a:r>
            <a:r>
              <a:rPr lang="tk" dirty="0"/>
              <a:t>Birnäçe ulanyjy amallar we</a:t>
            </a:r>
            <a:r>
              <a:rPr lang="en-US" dirty="0"/>
              <a:t> </a:t>
            </a:r>
            <a:r>
              <a:rPr lang="tk" dirty="0"/>
              <a:t>bilen arkaýyn okap / ýazyp biler.</a:t>
            </a:r>
          </a:p>
        </p:txBody>
      </p:sp>
    </p:spTree>
    <p:extLst>
      <p:ext uri="{BB962C8B-B14F-4D97-AF65-F5344CB8AC3E}">
        <p14:creationId xmlns:p14="http://schemas.microsoft.com/office/powerpoint/2010/main" val="18348198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6638-CA5D-437C-86EC-9ED5590B1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8840D6-421A-45A7-A8A9-186BD0BC8490}"/>
              </a:ext>
            </a:extLst>
          </p:cNvPr>
          <p:cNvSpPr txBox="1"/>
          <p:nvPr/>
        </p:nvSpPr>
        <p:spPr>
          <a:xfrm>
            <a:off x="3048000" y="2571802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Howpsuzlyk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Faýl ulgamy: </a:t>
            </a:r>
            <a:r>
              <a:rPr lang="tk" dirty="0"/>
              <a:t>Çäklendirilen gözegçilik. Faýly açan her kim ony üýtgedip</a:t>
            </a:r>
            <a:r>
              <a:rPr lang="en-US" dirty="0"/>
              <a:t> </a:t>
            </a:r>
            <a:r>
              <a:rPr lang="en-US" dirty="0" err="1"/>
              <a:t>bilyar</a:t>
            </a:r>
            <a:r>
              <a:rPr lang="tk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Maglumat bazasy: </a:t>
            </a:r>
            <a:r>
              <a:rPr lang="tk" dirty="0"/>
              <a:t>Maglumatlary kimiň görüp, goşup ýa-da üýtgedip biljekdigini gözegçilikde saklamak üçin rugsatlar berip </a:t>
            </a:r>
            <a:r>
              <a:rPr lang="en-US" dirty="0" err="1"/>
              <a:t>bilinyar</a:t>
            </a:r>
            <a:r>
              <a:rPr lang="t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9606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ECECC-B04A-4B08-8DF6-3625F56D2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1A3D1-78B2-46D3-96A4-9389465B288E}"/>
              </a:ext>
            </a:extLst>
          </p:cNvPr>
          <p:cNvSpPr txBox="1"/>
          <p:nvPr/>
        </p:nvSpPr>
        <p:spPr>
          <a:xfrm>
            <a:off x="3048000" y="271030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-TM" b="1" dirty="0"/>
              <a:t>Ätiýaçlyk</a:t>
            </a:r>
            <a:r>
              <a:rPr lang="tk" b="1" dirty="0"/>
              <a:t> we dikeldiş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Faýl ulgamy: </a:t>
            </a:r>
            <a:r>
              <a:rPr lang="tk" dirty="0"/>
              <a:t>El bilen ätiýaçlyk, ýalňyşlyklara ýykgyn.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Maglumatlar bazasy: </a:t>
            </a:r>
            <a:r>
              <a:rPr lang="tk" dirty="0"/>
              <a:t>Içindäki ätiýaçlyk nusgasy, dikeldiş we amallary yzyna gaýtarmak goldawy.</a:t>
            </a:r>
          </a:p>
        </p:txBody>
      </p:sp>
    </p:spTree>
    <p:extLst>
      <p:ext uri="{BB962C8B-B14F-4D97-AF65-F5344CB8AC3E}">
        <p14:creationId xmlns:p14="http://schemas.microsoft.com/office/powerpoint/2010/main" val="24205022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681C0-B26F-44B7-BA61-ABA3F362C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7DB6C6-0879-4319-9712-3B87E0F0F02E}"/>
              </a:ext>
            </a:extLst>
          </p:cNvPr>
          <p:cNvSpPr txBox="1"/>
          <p:nvPr/>
        </p:nvSpPr>
        <p:spPr>
          <a:xfrm>
            <a:off x="3048000" y="284880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Esasy düşünje: </a:t>
            </a:r>
            <a:br>
              <a:rPr lang="en-GB" dirty="0"/>
            </a:br>
            <a:r>
              <a:rPr lang="tk" dirty="0"/>
              <a:t>Maglumatlar bazalary, esasanam </a:t>
            </a:r>
            <a:r>
              <a:rPr lang="tk" b="1" dirty="0"/>
              <a:t>uly ýa-da baglanyşykly maglumatlar </a:t>
            </a:r>
            <a:r>
              <a:rPr lang="tk" dirty="0"/>
              <a:t>bilen iş salyşýan mahaly, ýönekeý faýllary saklamakdan </a:t>
            </a:r>
            <a:r>
              <a:rPr lang="tk" b="1" dirty="0"/>
              <a:t>has çalt, has ygtybarly</a:t>
            </a:r>
            <a:r>
              <a:rPr lang="t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5913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D3490-03C1-4D7C-9AC8-7A2566F17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DBMS</a:t>
            </a:r>
            <a:endParaRPr lang="en-GB" sz="5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405BD1-F4F3-4864-9173-311E6426A030}"/>
              </a:ext>
            </a:extLst>
          </p:cNvPr>
          <p:cNvSpPr txBox="1"/>
          <p:nvPr/>
        </p:nvSpPr>
        <p:spPr>
          <a:xfrm>
            <a:off x="2133600" y="338666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Kesgitleme:</a:t>
            </a:r>
          </a:p>
          <a:p>
            <a:r>
              <a:rPr lang="tk" dirty="0"/>
              <a:t>DBMS </a:t>
            </a:r>
            <a:r>
              <a:rPr lang="tk" b="1" dirty="0"/>
              <a:t>ulanyjylaryň  </a:t>
            </a:r>
            <a:r>
              <a:rPr lang="tk" dirty="0"/>
              <a:t>we </a:t>
            </a:r>
            <a:r>
              <a:rPr lang="tk" b="1" dirty="0"/>
              <a:t>maglumat bazasynyň arasynda köpri bolup hyzmat edýän </a:t>
            </a:r>
            <a:r>
              <a:rPr lang="tk" dirty="0"/>
              <a:t>ulgamdyr . </a:t>
            </a:r>
            <a:br>
              <a:rPr lang="en-GB" dirty="0"/>
            </a:br>
            <a:r>
              <a:rPr lang="tk" dirty="0"/>
              <a:t>Yzygiderliligi, howpsuzlygy we öndürijiligi üpjün etmek bilen maglumatlary </a:t>
            </a:r>
            <a:r>
              <a:rPr lang="tk" b="1" dirty="0"/>
              <a:t>döretmäge, okamaga, täzelemäge we pozmaga </a:t>
            </a:r>
            <a:r>
              <a:rPr lang="tk" dirty="0"/>
              <a:t>mümkinçilik berýär 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5C4AD-BC72-4AF6-817C-2B6326524BCF}"/>
              </a:ext>
            </a:extLst>
          </p:cNvPr>
          <p:cNvSpPr txBox="1"/>
          <p:nvPr/>
        </p:nvSpPr>
        <p:spPr>
          <a:xfrm>
            <a:off x="2065866" y="218633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sz="1800" dirty="0"/>
              <a:t>DBMS (Maglumatlar bazasyny dolandyryş ulgamy) maglumat bazasynda maglumatlary aňsat we ygtybarly saklamaga, tertipleşdirmäge, dolandyrmaga we girmäge kömek edýän programma üpjünçiligi.</a:t>
            </a:r>
            <a:br>
              <a:rPr lang="en-GB" sz="1800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32977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6B5B0-A705-45FE-9769-B232FE0B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DBMS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F74EE-DB2F-4177-B2A4-9D06444A5381}"/>
              </a:ext>
            </a:extLst>
          </p:cNvPr>
          <p:cNvSpPr txBox="1"/>
          <p:nvPr/>
        </p:nvSpPr>
        <p:spPr>
          <a:xfrm>
            <a:off x="770467" y="2209800"/>
            <a:ext cx="630766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sz="1600" b="1" dirty="0"/>
              <a:t>DBMS näme edýär:</a:t>
            </a:r>
          </a:p>
          <a:p>
            <a:pPr>
              <a:buFont typeface="+mj-lt"/>
              <a:buAutoNum type="arabicPeriod"/>
            </a:pPr>
            <a:r>
              <a:rPr lang="tk" sz="1600" b="1" dirty="0"/>
              <a:t>Maglumatlary saklamak we gözlemek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tk" sz="1600" dirty="0"/>
              <a:t>Maglumatlary diskde netijeli saklaýar we zerur bolanda çalt alýar.</a:t>
            </a:r>
          </a:p>
          <a:p>
            <a:pPr>
              <a:buFont typeface="+mj-lt"/>
              <a:buAutoNum type="arabicPeriod"/>
            </a:pPr>
            <a:r>
              <a:rPr lang="tk" sz="1600" b="1" dirty="0"/>
              <a:t>Maglumat guramasy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tk" sz="1600" dirty="0"/>
              <a:t>Has gowy girmek üçin maglumatlary tablisalara, gatnaşyklara we indekslere düzýär.</a:t>
            </a:r>
          </a:p>
          <a:p>
            <a:pPr>
              <a:buFont typeface="+mj-lt"/>
              <a:buAutoNum type="arabicPeriod"/>
            </a:pPr>
            <a:r>
              <a:rPr lang="tk" sz="1600" b="1" dirty="0"/>
              <a:t>Maglumat howpsuzlygy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tk" sz="1600" dirty="0"/>
              <a:t>Ulanyjy rugsatlaryny ulanyp maglumatlary görüp ýa-da üýtgedip bilýän dolandyryşlar.</a:t>
            </a:r>
          </a:p>
          <a:p>
            <a:pPr>
              <a:buFont typeface="+mj-lt"/>
              <a:buAutoNum type="arabicPeriod"/>
            </a:pPr>
            <a:r>
              <a:rPr lang="tk" sz="1600" b="1" dirty="0"/>
              <a:t>Maglumatlaryň bitewiligi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tk" sz="1600" dirty="0"/>
              <a:t>Primary keys  we </a:t>
            </a:r>
            <a:r>
              <a:rPr lang="en-GB" sz="1600" dirty="0"/>
              <a:t>c</a:t>
            </a:r>
            <a:r>
              <a:rPr lang="tk" sz="1600" dirty="0"/>
              <a:t>onstrains ýaly düzgünler bilen takyklygy saklaýar.</a:t>
            </a:r>
          </a:p>
          <a:p>
            <a:pPr>
              <a:buFont typeface="+mj-lt"/>
              <a:buAutoNum type="arabicPeriod"/>
            </a:pPr>
            <a:r>
              <a:rPr lang="tk" sz="1600" b="1" dirty="0"/>
              <a:t>Gabat geliş gözegçiligi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tk" sz="1600" dirty="0"/>
              <a:t>Birnäçe ulanyja bir wagtyň özünde maglumatlar bilen howpsuz işlemäge mümkinçilik berýär.</a:t>
            </a:r>
          </a:p>
          <a:p>
            <a:pPr>
              <a:buFont typeface="+mj-lt"/>
              <a:buAutoNum type="arabicPeriod"/>
            </a:pPr>
            <a:r>
              <a:rPr lang="tk" sz="1600" b="1" dirty="0"/>
              <a:t>Uptiýaçlyk we dikeldiş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tk" sz="1600" dirty="0"/>
              <a:t>Awtomatiki ätiýaçlyk üpjün edýär we şowsuzlyklardan soň maglumatlary dikeldýär.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C1FD72-47D8-4936-B1E3-E819F883A95C}"/>
              </a:ext>
            </a:extLst>
          </p:cNvPr>
          <p:cNvSpPr txBox="1"/>
          <p:nvPr/>
        </p:nvSpPr>
        <p:spPr>
          <a:xfrm>
            <a:off x="7713133" y="4592303"/>
            <a:ext cx="42333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DBMS programma üpjünçiligi üçin mysal: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PostgreSQL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MySQL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Oracle maglumat bazasy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Microsoft SQL Serweri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SQLite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74561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9477-6EAB-4DE0-A6B6-5C9072B3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99C62-7E3D-4BFA-B741-6FBCD4F0F3BD}"/>
              </a:ext>
            </a:extLst>
          </p:cNvPr>
          <p:cNvSpPr txBox="1"/>
          <p:nvPr/>
        </p:nvSpPr>
        <p:spPr>
          <a:xfrm>
            <a:off x="3048000" y="2294804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1. Baglanyşyk maglumatlar bazasy (RDBMS)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Gurluşy: Tablisalarda </a:t>
            </a:r>
            <a:r>
              <a:rPr lang="tk" dirty="0"/>
              <a:t>(hatarlarda we sütünlerde) saklanýan maglumatlar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Gatnaşyk: </a:t>
            </a:r>
            <a:r>
              <a:rPr lang="tk" dirty="0"/>
              <a:t>Tablisalar </a:t>
            </a:r>
            <a:r>
              <a:rPr lang="en-GB" dirty="0"/>
              <a:t>key</a:t>
            </a:r>
            <a:r>
              <a:rPr lang="tk" dirty="0"/>
              <a:t> bilen baglanyşdyrylýar (mysal üçin, talyp kursy).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Ulanylýan dil: </a:t>
            </a:r>
            <a:r>
              <a:rPr lang="tk" dirty="0"/>
              <a:t>SQL.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Mysallar: </a:t>
            </a:r>
            <a:r>
              <a:rPr lang="tk" dirty="0"/>
              <a:t>PostgreSQL, MySQL, Oracle, SQL Serweri.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Iň gowusy: </a:t>
            </a:r>
            <a:r>
              <a:rPr lang="tk" dirty="0"/>
              <a:t>Açyk gatnaşyklar bilen gurlan maglumatlar (banklar, uniwersitetler we ş.m.).</a:t>
            </a:r>
          </a:p>
        </p:txBody>
      </p:sp>
    </p:spTree>
    <p:extLst>
      <p:ext uri="{BB962C8B-B14F-4D97-AF65-F5344CB8AC3E}">
        <p14:creationId xmlns:p14="http://schemas.microsoft.com/office/powerpoint/2010/main" val="24489470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A862C-48E3-407B-A966-D0DBE7F31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5256C4-4C15-4CB0-9550-8EB7E96994EF}"/>
              </a:ext>
            </a:extLst>
          </p:cNvPr>
          <p:cNvSpPr txBox="1"/>
          <p:nvPr/>
        </p:nvSpPr>
        <p:spPr>
          <a:xfrm>
            <a:off x="3048000" y="2156304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2. NoSQL maglumat bazasy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Gurluşy: </a:t>
            </a:r>
            <a:r>
              <a:rPr lang="tk" dirty="0"/>
              <a:t>Maglumatlary </a:t>
            </a:r>
            <a:r>
              <a:rPr lang="tk" b="1" dirty="0"/>
              <a:t>tablisa däl </a:t>
            </a:r>
            <a:r>
              <a:rPr lang="tk" dirty="0"/>
              <a:t>görnüşlerde saklaýar (resminamalar, </a:t>
            </a:r>
            <a:r>
              <a:rPr lang="en-GB" dirty="0"/>
              <a:t>key</a:t>
            </a:r>
            <a:r>
              <a:rPr lang="tk" dirty="0"/>
              <a:t> baha jübütleri, grafikler).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Çeýe shema: </a:t>
            </a:r>
            <a:r>
              <a:rPr lang="tk" dirty="0"/>
              <a:t>Kesgitli sütünler ýok; gurulmadyk ýa-da üýtgeýän maglumatlar üçin gowy.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Mysallar: </a:t>
            </a:r>
            <a:r>
              <a:rPr lang="tk" dirty="0"/>
              <a:t>MongoDB (resminama), Redis (açar baha), Neo4j (grafika).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Iň gowusy: </a:t>
            </a:r>
            <a:r>
              <a:rPr lang="tk" dirty="0"/>
              <a:t>Uly göwrümli programmalar, sosial ulgamlar, real wagt analitikasy.</a:t>
            </a:r>
            <a:r>
              <a:rPr lang="en-GB" dirty="0"/>
              <a:t> </a:t>
            </a:r>
            <a:endParaRPr lang="tk" dirty="0"/>
          </a:p>
        </p:txBody>
      </p:sp>
    </p:spTree>
    <p:extLst>
      <p:ext uri="{BB962C8B-B14F-4D97-AF65-F5344CB8AC3E}">
        <p14:creationId xmlns:p14="http://schemas.microsoft.com/office/powerpoint/2010/main" val="18945322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238DC-93A4-482E-B7C5-3AC40DE8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24EBAC-E9C9-4825-80D2-3C2986984CE8}"/>
              </a:ext>
            </a:extLst>
          </p:cNvPr>
          <p:cNvSpPr txBox="1"/>
          <p:nvPr/>
        </p:nvSpPr>
        <p:spPr>
          <a:xfrm>
            <a:off x="3048000" y="2433303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3. </a:t>
            </a:r>
            <a:r>
              <a:rPr lang="en-GB" b="1" dirty="0"/>
              <a:t>Hierarchical</a:t>
            </a:r>
            <a:r>
              <a:rPr lang="tk" b="1" dirty="0"/>
              <a:t> maglumatlar bazasy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Gurluşy: Agaç </a:t>
            </a:r>
            <a:r>
              <a:rPr lang="tk" dirty="0"/>
              <a:t>ýaly tertiplenen maglumatlar – bir</a:t>
            </a:r>
            <a:r>
              <a:rPr lang="en-GB" dirty="0"/>
              <a:t> parent</a:t>
            </a:r>
            <a:r>
              <a:rPr lang="tk" dirty="0"/>
              <a:t>, köp </a:t>
            </a:r>
            <a:r>
              <a:rPr lang="en-GB" dirty="0"/>
              <a:t>children</a:t>
            </a:r>
            <a:r>
              <a:rPr lang="tk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Mysal: </a:t>
            </a:r>
            <a:r>
              <a:rPr lang="tk" dirty="0"/>
              <a:t>IBM maglumat dolandyryş ulgamy (IMS).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Iň gowusy</a:t>
            </a:r>
            <a:r>
              <a:rPr lang="tk" b="1" dirty="0"/>
              <a:t>: </a:t>
            </a:r>
            <a:r>
              <a:rPr lang="en-GB" b="1" dirty="0"/>
              <a:t>one to many</a:t>
            </a:r>
            <a:r>
              <a:rPr lang="tk" dirty="0"/>
              <a:t> gatnaşyklary bolan maglumatlar (mysal üçin, kompaniýanyň gurluşy).</a:t>
            </a:r>
          </a:p>
        </p:txBody>
      </p:sp>
    </p:spTree>
    <p:extLst>
      <p:ext uri="{BB962C8B-B14F-4D97-AF65-F5344CB8AC3E}">
        <p14:creationId xmlns:p14="http://schemas.microsoft.com/office/powerpoint/2010/main" val="31360417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15CCD-6992-4FF1-9131-167029EB0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47C38-1527-4F90-B7D1-490246FA0508}"/>
              </a:ext>
            </a:extLst>
          </p:cNvPr>
          <p:cNvSpPr txBox="1"/>
          <p:nvPr/>
        </p:nvSpPr>
        <p:spPr>
          <a:xfrm>
            <a:off x="3048000" y="2433303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4. Tor maglumatlar bazasy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Gurluşy: </a:t>
            </a:r>
            <a:r>
              <a:rPr lang="en-GB" b="1" dirty="0"/>
              <a:t>Hierarchical</a:t>
            </a:r>
            <a:r>
              <a:rPr lang="tk" dirty="0"/>
              <a:t> meňzeş, ýöne her bir çaganyň </a:t>
            </a:r>
            <a:r>
              <a:rPr lang="tk" b="1" dirty="0"/>
              <a:t>birnäçe ene-atasy bolup biler </a:t>
            </a:r>
            <a:r>
              <a:rPr lang="tk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Mysal: </a:t>
            </a:r>
            <a:r>
              <a:rPr lang="tk" dirty="0"/>
              <a:t>Toplumlaýyn maglumat dükany (IDS).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Iň gowusy: </a:t>
            </a:r>
            <a:r>
              <a:rPr lang="tk" dirty="0"/>
              <a:t>telekommunikasiýa ulgamlary ýaly çylşyrymly gatnaşyklar.</a:t>
            </a:r>
          </a:p>
        </p:txBody>
      </p:sp>
    </p:spTree>
    <p:extLst>
      <p:ext uri="{BB962C8B-B14F-4D97-AF65-F5344CB8AC3E}">
        <p14:creationId xmlns:p14="http://schemas.microsoft.com/office/powerpoint/2010/main" val="12647022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D24E3-8F2C-48A7-BDD2-67F4DC807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B7B18B-4B94-4B5A-B415-FA54059ED8F6}"/>
              </a:ext>
            </a:extLst>
          </p:cNvPr>
          <p:cNvSpPr txBox="1"/>
          <p:nvPr/>
        </p:nvSpPr>
        <p:spPr>
          <a:xfrm>
            <a:off x="3048000" y="257180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5. Obýekte gönükdirilen maglumat bazasy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Gurluşy: </a:t>
            </a:r>
            <a:r>
              <a:rPr lang="tk" dirty="0"/>
              <a:t>Maglumatlary </a:t>
            </a:r>
            <a:r>
              <a:rPr lang="tk" b="1" dirty="0"/>
              <a:t>obýekt hökmünde saklaýar </a:t>
            </a:r>
            <a:r>
              <a:rPr lang="tk" dirty="0"/>
              <a:t>(programmirleme ýaly).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Iň gowusy: </a:t>
            </a:r>
            <a:r>
              <a:rPr lang="tk" dirty="0"/>
              <a:t>obýekte gönükdirilen dilleri ulanýan programmalar (Java, C ++).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Mysal:</a:t>
            </a:r>
            <a:r>
              <a:rPr lang="tk" dirty="0"/>
              <a:t> </a:t>
            </a:r>
            <a:r>
              <a:rPr lang="tk" dirty="0" err="1"/>
              <a:t>ObjectDB </a:t>
            </a:r>
            <a:r>
              <a:rPr lang="t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00363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FB948-C0CD-4BDF-AB8E-1E8233928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BAE8C-DA78-4751-9F37-612A45818D65}"/>
              </a:ext>
            </a:extLst>
          </p:cNvPr>
          <p:cNvSpPr txBox="1"/>
          <p:nvPr/>
        </p:nvSpPr>
        <p:spPr>
          <a:xfrm>
            <a:off x="3048000" y="257180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6. Bulut maglumatlar bazasy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Gurluşy: </a:t>
            </a:r>
            <a:r>
              <a:rPr lang="tk" dirty="0"/>
              <a:t>Bulut platformalarynda ýerleşdirilen we dolandyrylýan.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Mysallar: </a:t>
            </a:r>
            <a:r>
              <a:rPr lang="tk" dirty="0"/>
              <a:t>Amazon RDS, Google Cloud SQL, Azure SQL maglumat bazasy.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Iň gowusy: </a:t>
            </a:r>
            <a:r>
              <a:rPr lang="tk" dirty="0"/>
              <a:t>Giňeldilip bilinýän, internet esasly programmalar.</a:t>
            </a:r>
          </a:p>
        </p:txBody>
      </p:sp>
    </p:spTree>
    <p:extLst>
      <p:ext uri="{BB962C8B-B14F-4D97-AF65-F5344CB8AC3E}">
        <p14:creationId xmlns:p14="http://schemas.microsoft.com/office/powerpoint/2010/main" val="28734487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7F7FE-DEF4-453D-9D4C-238FB94C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6E0D6D-6DD4-477D-97C9-04137CA15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563703"/>
              </p:ext>
            </p:extLst>
          </p:nvPr>
        </p:nvGraphicFramePr>
        <p:xfrm>
          <a:off x="838200" y="2721134"/>
          <a:ext cx="10515600" cy="28346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1038684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98864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237131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923379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tk"/>
                        <a:t>Görnüşi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Gurluşy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Mysal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Iň gowusy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5346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Gatnaşyk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Tablisa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PostgreSQL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Düzülen maglumatlar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01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NoSQL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Resminamalar / Açar baha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MongoDB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Çeýe, uly maglumatlar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33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Iýerarhik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Agaç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IMS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Parent</a:t>
                      </a:r>
                      <a:r>
                        <a:rPr lang="tk" dirty="0"/>
                        <a:t> maglumatlary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564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Grafika meňzeş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Şahsyýetnamalar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/>
                        <a:t>Çylşyrymly baglanyşyklar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1456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Obýekte gönükdirilen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Obýektler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ObjectDB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/>
                        <a:t>OOP ulgamlary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454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Bulut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Onlaýn dolandyrylýar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Amazon 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/>
                        <a:t>Giňeldilip bilinýän programmalar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9080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2312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087F9-F58A-4784-A166-4FD313432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934" y="45458"/>
            <a:ext cx="10515600" cy="1399667"/>
          </a:xfrm>
        </p:spPr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887276-C229-445B-813A-183D301B79E0}"/>
              </a:ext>
            </a:extLst>
          </p:cNvPr>
          <p:cNvSpPr txBox="1"/>
          <p:nvPr/>
        </p:nvSpPr>
        <p:spPr>
          <a:xfrm>
            <a:off x="2777066" y="175302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RDBMS (Baglanyşyk maglumatlar bazasyny dolandyryş ulgamy) maglumatlary hatarlardan we sütünlerden </a:t>
            </a:r>
            <a:r>
              <a:rPr lang="tk" dirty="0"/>
              <a:t>düzülen </a:t>
            </a:r>
            <a:r>
              <a:rPr lang="tk" b="1" dirty="0"/>
              <a:t>tablisalarda (gatnaşyklar</a:t>
            </a:r>
            <a:r>
              <a:rPr lang="en-GB" b="1" dirty="0"/>
              <a:t>y</a:t>
            </a:r>
            <a:r>
              <a:rPr lang="tk" b="1" dirty="0"/>
              <a:t>da) </a:t>
            </a:r>
            <a:r>
              <a:rPr lang="tk" dirty="0"/>
              <a:t>saklaýan DBMS görnüşidir 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55209B-4CA3-4128-B332-719CA865DE4E}"/>
              </a:ext>
            </a:extLst>
          </p:cNvPr>
          <p:cNvSpPr txBox="1"/>
          <p:nvPr/>
        </p:nvSpPr>
        <p:spPr>
          <a:xfrm>
            <a:off x="2777066" y="255487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dirty="0"/>
              <a:t>“Gatnaşyk” diýmek, </a:t>
            </a:r>
            <a:r>
              <a:rPr lang="tk" b="1" dirty="0"/>
              <a:t>gatnaşyklar (tablisalar) boýunça tertipleşdirilýär </a:t>
            </a:r>
            <a:r>
              <a:rPr lang="tk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Her tablisada </a:t>
            </a:r>
            <a:r>
              <a:rPr lang="tk" b="1" dirty="0"/>
              <a:t>hatarlar </a:t>
            </a:r>
            <a:r>
              <a:rPr lang="tk" dirty="0"/>
              <a:t>(ýazgylar) we </a:t>
            </a:r>
            <a:r>
              <a:rPr lang="tk" b="1" dirty="0"/>
              <a:t>sütünler </a:t>
            </a:r>
            <a:r>
              <a:rPr lang="tk" dirty="0"/>
              <a:t>(</a:t>
            </a:r>
            <a:r>
              <a:rPr lang="en-GB" dirty="0"/>
              <a:t>field</a:t>
            </a:r>
            <a:r>
              <a:rPr lang="tk" dirty="0"/>
              <a:t>) bar.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Tablisalar </a:t>
            </a:r>
            <a:r>
              <a:rPr lang="tk" b="1" dirty="0"/>
              <a:t>düwmeleriň </a:t>
            </a:r>
            <a:r>
              <a:rPr lang="tk" dirty="0"/>
              <a:t>kömegi bilen </a:t>
            </a:r>
            <a:r>
              <a:rPr lang="tk" b="1" dirty="0"/>
              <a:t>baglanyşdyrylýar </a:t>
            </a:r>
            <a:r>
              <a:rPr lang="tk" dirty="0"/>
              <a:t>(talyp ID, kurs ID).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1FCD08-5AD0-4C91-B6B0-946BAC1578E5}"/>
              </a:ext>
            </a:extLst>
          </p:cNvPr>
          <p:cNvSpPr txBox="1"/>
          <p:nvPr/>
        </p:nvSpPr>
        <p:spPr>
          <a:xfrm>
            <a:off x="2777066" y="4032201"/>
            <a:ext cx="77808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RDBMS-iň maksady:</a:t>
            </a:r>
          </a:p>
          <a:p>
            <a:pPr>
              <a:buFont typeface="+mj-lt"/>
              <a:buAutoNum type="arabicPeriod"/>
            </a:pPr>
            <a:r>
              <a:rPr lang="tk" b="1" dirty="0"/>
              <a:t>Maglumatlary anyk tertipläň </a:t>
            </a:r>
            <a:r>
              <a:rPr lang="tk" dirty="0"/>
              <a:t>- Maglumatlar düzülen tablisalarda saklanýar.</a:t>
            </a:r>
          </a:p>
          <a:p>
            <a:pPr>
              <a:buFont typeface="+mj-lt"/>
              <a:buAutoNum type="arabicPeriod"/>
            </a:pPr>
            <a:r>
              <a:rPr lang="tk" b="1" dirty="0"/>
              <a:t>Gaýtalanmagy azaltmak </a:t>
            </a:r>
            <a:r>
              <a:rPr lang="tk" dirty="0"/>
              <a:t>- Gatnaşyklar maglumatlary gaýtalamagyň ýerine baglanyşdyrýar.</a:t>
            </a:r>
          </a:p>
          <a:p>
            <a:pPr>
              <a:buFont typeface="+mj-lt"/>
              <a:buAutoNum type="arabicPeriod"/>
            </a:pPr>
            <a:r>
              <a:rPr lang="tk" b="1" dirty="0"/>
              <a:t>Takyklygyny üpjün ediň </a:t>
            </a:r>
            <a:r>
              <a:rPr lang="tk" dirty="0"/>
              <a:t>- Esasy we </a:t>
            </a:r>
            <a:r>
              <a:rPr lang="en-GB" dirty="0" err="1"/>
              <a:t>forieng</a:t>
            </a:r>
            <a:r>
              <a:rPr lang="en-GB" dirty="0"/>
              <a:t> key </a:t>
            </a:r>
            <a:r>
              <a:rPr lang="tk" dirty="0"/>
              <a:t>ýaly düzgünler yzygiderliligi saklaýar.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Query </a:t>
            </a:r>
            <a:r>
              <a:rPr lang="tk" b="1" dirty="0"/>
              <a:t> ýönekeýleşdirmek </a:t>
            </a:r>
            <a:r>
              <a:rPr lang="tk" dirty="0"/>
              <a:t>- Maglumatlary almak, salmak, täzelemek ýa-da ýok etmek üçin SQL ulanyň.</a:t>
            </a:r>
          </a:p>
          <a:p>
            <a:pPr>
              <a:buFont typeface="+mj-lt"/>
              <a:buAutoNum type="arabicPeriod"/>
            </a:pPr>
            <a:r>
              <a:rPr lang="tk" b="1" dirty="0"/>
              <a:t>Uly ulgamlary dolandyryň </a:t>
            </a:r>
            <a:r>
              <a:rPr lang="tk" dirty="0"/>
              <a:t>- Köp ulanyjynyň elýeterliligini, howpsuzlygyny we amallaryny goldaýar.</a:t>
            </a:r>
          </a:p>
        </p:txBody>
      </p:sp>
    </p:spTree>
    <p:extLst>
      <p:ext uri="{BB962C8B-B14F-4D97-AF65-F5344CB8AC3E}">
        <p14:creationId xmlns:p14="http://schemas.microsoft.com/office/powerpoint/2010/main" val="16557140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17816-3528-494E-AD9D-6D7220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989A7-1452-4ED8-B280-F9C0A37DF0AD}"/>
              </a:ext>
            </a:extLst>
          </p:cNvPr>
          <p:cNvSpPr txBox="1"/>
          <p:nvPr/>
        </p:nvSpPr>
        <p:spPr>
          <a:xfrm>
            <a:off x="2865966" y="2605037"/>
            <a:ext cx="62060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1. MySQL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Görnüşi: </a:t>
            </a:r>
            <a:r>
              <a:rPr lang="tk" dirty="0"/>
              <a:t>Açyk çeşme RDBMS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Web sahypalary we web programmalary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Esasy aýratynlyklary: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Çalt we ulanmak aňsat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PHP we WordPress bilen gowy işleýär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Kiçi we orta ulgamlar üçin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Ulanylan: </a:t>
            </a:r>
            <a:r>
              <a:rPr lang="tk" dirty="0"/>
              <a:t>Facebook, YouTube, Twitter (irki wersiýalary)</a:t>
            </a:r>
          </a:p>
        </p:txBody>
      </p:sp>
    </p:spTree>
    <p:extLst>
      <p:ext uri="{BB962C8B-B14F-4D97-AF65-F5344CB8AC3E}">
        <p14:creationId xmlns:p14="http://schemas.microsoft.com/office/powerpoint/2010/main" val="1446459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4AB9C-5B8C-4147-BA37-7CD05F4FF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97F6E0-557B-4B1E-BA72-3E0BCF901D40}"/>
              </a:ext>
            </a:extLst>
          </p:cNvPr>
          <p:cNvSpPr txBox="1"/>
          <p:nvPr/>
        </p:nvSpPr>
        <p:spPr>
          <a:xfrm>
            <a:off x="2819400" y="256813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2. PostgreSQL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Görnüşi: </a:t>
            </a:r>
            <a:r>
              <a:rPr lang="tk" dirty="0"/>
              <a:t>Açyk çeşme, ösen RDBMS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Iň gowusy: </a:t>
            </a:r>
            <a:r>
              <a:rPr lang="tk" dirty="0"/>
              <a:t>Çylşyrymly, uly göwrümli programmalar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Esasy aýratynlyklary: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Öňdebaryjy </a:t>
            </a:r>
            <a:r>
              <a:rPr lang="en-GB" dirty="0"/>
              <a:t>query</a:t>
            </a:r>
            <a:r>
              <a:rPr lang="tk" dirty="0"/>
              <a:t>, JSON we doly tekst gözlegini goldaýar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Örän ygtybarly we ülňülere laýyk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Giňeldilip bilner (öz maglumat görnüşleriňizi we funksiýalaryňyzy goşup bilersiňiz)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Ulanyl</a:t>
            </a:r>
            <a:r>
              <a:rPr lang="en-GB" b="1" dirty="0" err="1"/>
              <a:t>ya</a:t>
            </a:r>
            <a:r>
              <a:rPr lang="tk" b="1" dirty="0"/>
              <a:t>: </a:t>
            </a:r>
            <a:r>
              <a:rPr lang="tk" dirty="0"/>
              <a:t>Instagram, Spotify, Reddit</a:t>
            </a:r>
          </a:p>
        </p:txBody>
      </p:sp>
    </p:spTree>
    <p:extLst>
      <p:ext uri="{BB962C8B-B14F-4D97-AF65-F5344CB8AC3E}">
        <p14:creationId xmlns:p14="http://schemas.microsoft.com/office/powerpoint/2010/main" val="7912863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62C40-81F4-492B-B3B2-014E87D74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936E7-6AB3-45A0-9419-E79287C26BF8}"/>
              </a:ext>
            </a:extLst>
          </p:cNvPr>
          <p:cNvSpPr txBox="1"/>
          <p:nvPr/>
        </p:nvSpPr>
        <p:spPr>
          <a:xfrm>
            <a:off x="2912534" y="2672771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3. SQLite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Görnüşi: </a:t>
            </a:r>
            <a:r>
              <a:rPr lang="tk" dirty="0"/>
              <a:t>ýeňil, faýl esasly RDBMS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Iň gowusy: </a:t>
            </a:r>
            <a:r>
              <a:rPr lang="tk" dirty="0"/>
              <a:t>Jübi programmalary, kiçi taslamalar, synag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Esasy aýratynlyklary: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Aýry-aýry serwer gerek däl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Maglumatlary bir faýlda saklaýar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Gurnamak gaty ýönekeý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Ulanyl</a:t>
            </a:r>
            <a:r>
              <a:rPr lang="en-GB" b="1" dirty="0" err="1"/>
              <a:t>ya</a:t>
            </a:r>
            <a:r>
              <a:rPr lang="tk" b="1" dirty="0"/>
              <a:t>: </a:t>
            </a:r>
            <a:r>
              <a:rPr lang="tk" dirty="0"/>
              <a:t>Android programmalary, Chrome we Firefox ýaly brauzerler</a:t>
            </a:r>
          </a:p>
        </p:txBody>
      </p:sp>
    </p:spTree>
    <p:extLst>
      <p:ext uri="{BB962C8B-B14F-4D97-AF65-F5344CB8AC3E}">
        <p14:creationId xmlns:p14="http://schemas.microsoft.com/office/powerpoint/2010/main" val="2619127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D9D91-7033-4834-9727-DDC989861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6FE0F-0169-4660-9589-D0840923F356}"/>
              </a:ext>
            </a:extLst>
          </p:cNvPr>
          <p:cNvSpPr txBox="1"/>
          <p:nvPr/>
        </p:nvSpPr>
        <p:spPr>
          <a:xfrm>
            <a:off x="3048000" y="2156304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4. Oracle maglumatlar bazasy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Görnüşi: </a:t>
            </a:r>
            <a:r>
              <a:rPr lang="tk" dirty="0"/>
              <a:t>RDBMS täjirçilik kärhanasy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Iň gowusy: </a:t>
            </a:r>
            <a:r>
              <a:rPr lang="tk" dirty="0"/>
              <a:t>Uly korporasiýalar we möhüm iş ulgamlary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Esasy aýratynlyklary: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Performance yokary we howpsuzlyk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" dirty="0"/>
              <a:t>Örän uly maglumat bazalaryny goldaýar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k-TM" dirty="0"/>
              <a:t>Ä</a:t>
            </a:r>
            <a:r>
              <a:rPr lang="tk" dirty="0"/>
              <a:t>tiýaçlyk, dikeldiş we analitika üçin ösen gurallar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Ulanylan: </a:t>
            </a:r>
            <a:r>
              <a:rPr lang="tk" dirty="0"/>
              <a:t>Banklar, awiakompaniýalar we hökümet ulgamlary</a:t>
            </a:r>
          </a:p>
        </p:txBody>
      </p:sp>
    </p:spTree>
    <p:extLst>
      <p:ext uri="{BB962C8B-B14F-4D97-AF65-F5344CB8AC3E}">
        <p14:creationId xmlns:p14="http://schemas.microsoft.com/office/powerpoint/2010/main" val="8805868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AE2B8-7980-4275-8C7C-93498F45D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E49D65-3B7D-4206-BD59-57DFD00C8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358645"/>
              </p:ext>
            </p:extLst>
          </p:nvPr>
        </p:nvGraphicFramePr>
        <p:xfrm>
          <a:off x="838200" y="3086894"/>
          <a:ext cx="10515600" cy="21031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9053713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673406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098120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065889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tk"/>
                        <a:t>RDBMS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Görnüşi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Iň gowusy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/>
                        <a:t>Mysal üçin ulanmak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100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MySQL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Açyk çeşme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Web programmalary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/>
                        <a:t>WordPress saýtlary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755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PostgreSQL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Açyk çeşme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Çylşyrymly ulgamlar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/>
                        <a:t>Spotify, Instagram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11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SQLite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Faýl esasly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Jübi programmalary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Android, brauzerler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611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Oracle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Söwda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Kärhana ulgamlary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/>
                        <a:t>Banklar,  howa yollary kompaniýalar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279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5324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B6F69-B820-466E-9569-916B3C3C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D6C07A-DCF8-415F-8579-8AFEE3A2D28F}"/>
              </a:ext>
            </a:extLst>
          </p:cNvPr>
          <p:cNvSpPr txBox="1"/>
          <p:nvPr/>
        </p:nvSpPr>
        <p:spPr>
          <a:xfrm>
            <a:off x="2235200" y="2128378"/>
            <a:ext cx="8305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ACID häsiýetleri</a:t>
            </a:r>
          </a:p>
          <a:p>
            <a:r>
              <a:rPr lang="tk" dirty="0"/>
              <a:t>ACID amallar wagtynda (birnäçe amal bilelikde bolanda) </a:t>
            </a:r>
            <a:r>
              <a:rPr lang="tk" b="1" dirty="0"/>
              <a:t>maglumatlaryň ygtybarlylygyny we yzygiderliligini üpjün edýär.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A - Atomlyk: </a:t>
            </a:r>
            <a:br>
              <a:rPr lang="en-GB" dirty="0"/>
            </a:br>
            <a:r>
              <a:rPr lang="tk" dirty="0"/>
              <a:t>Geleşikdäki ähli ädimler doly bolup geçýär ýa-da asla ýok. </a:t>
            </a:r>
            <a:br>
              <a:rPr lang="en-GB" dirty="0"/>
            </a:br>
            <a:r>
              <a:rPr lang="tk" i="1" dirty="0"/>
              <a:t>Mysal: </a:t>
            </a:r>
            <a:r>
              <a:rPr lang="tk" dirty="0"/>
              <a:t>Pul geçirseňiz, yzyna alynýar </a:t>
            </a:r>
            <a:r>
              <a:rPr lang="tk" i="1" dirty="0"/>
              <a:t>we </a:t>
            </a:r>
            <a:r>
              <a:rPr lang="tk" dirty="0"/>
              <a:t>goýulýar - ýa-da hiç zat bolmaýar.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C - yzygiderlilik: </a:t>
            </a:r>
            <a:br>
              <a:rPr lang="en-GB" dirty="0"/>
            </a:br>
            <a:r>
              <a:rPr lang="tk" dirty="0"/>
              <a:t>Maglumat bazasy trans</a:t>
            </a:r>
            <a:r>
              <a:rPr lang="en-US" dirty="0" err="1"/>
              <a:t>actiondan</a:t>
            </a:r>
            <a:r>
              <a:rPr lang="tk" dirty="0"/>
              <a:t> öň we soň elmydama </a:t>
            </a:r>
            <a:r>
              <a:rPr lang="en-US" dirty="0"/>
              <a:t>valid </a:t>
            </a:r>
            <a:r>
              <a:rPr lang="tk" dirty="0"/>
              <a:t> ýagdaýda bolýar. </a:t>
            </a:r>
            <a:br>
              <a:rPr lang="en-GB" dirty="0"/>
            </a:br>
            <a:r>
              <a:rPr lang="tk" i="1" dirty="0"/>
              <a:t>Mysal: </a:t>
            </a:r>
            <a:r>
              <a:rPr lang="tk" dirty="0"/>
              <a:t>Zerur bolsa şahsyýetnamasyz okuwçy bolup bilmez.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I - izolýasiýa: </a:t>
            </a:r>
            <a:br>
              <a:rPr lang="en-GB" dirty="0"/>
            </a:br>
            <a:r>
              <a:rPr lang="tk" dirty="0"/>
              <a:t>Köp ulanyjy birbada işlese, amallar biri-birine päsgel bermeýär. </a:t>
            </a:r>
            <a:br>
              <a:rPr lang="en-GB" dirty="0"/>
            </a:br>
            <a:r>
              <a:rPr lang="tk" i="1" dirty="0"/>
              <a:t>Mysal: </a:t>
            </a:r>
            <a:r>
              <a:rPr lang="tk" dirty="0"/>
              <a:t>Bir wagtyň özünde maglumatlary redaktirleýän iki adam gapma-garşylyga sebäp bolmaz.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D - Çydamlylygy: </a:t>
            </a:r>
            <a:br>
              <a:rPr lang="en-GB" dirty="0"/>
            </a:br>
            <a:r>
              <a:rPr lang="tk" dirty="0"/>
              <a:t>Bir amal ýatda saklanandan soň, hatda ýykylandan ýa-da täzeden başlandan soňam galýar.</a:t>
            </a:r>
          </a:p>
        </p:txBody>
      </p:sp>
    </p:spTree>
    <p:extLst>
      <p:ext uri="{BB962C8B-B14F-4D97-AF65-F5344CB8AC3E}">
        <p14:creationId xmlns:p14="http://schemas.microsoft.com/office/powerpoint/2010/main" val="1191415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8861F-D685-428C-8D36-032F3F640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DECA08-265E-4DCB-8BBE-9A44E0A57ADD}"/>
              </a:ext>
            </a:extLst>
          </p:cNvPr>
          <p:cNvSpPr txBox="1"/>
          <p:nvPr/>
        </p:nvSpPr>
        <p:spPr>
          <a:xfrm>
            <a:off x="2734734" y="2551837"/>
            <a:ext cx="628226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2. Maglumatlaryň bitewiligi</a:t>
            </a:r>
          </a:p>
          <a:p>
            <a:r>
              <a:rPr lang="tk" b="1" dirty="0"/>
              <a:t>takyk we yzygiderli </a:t>
            </a:r>
            <a:r>
              <a:rPr lang="tk" dirty="0"/>
              <a:t>bolmagyny üpjün edýär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Esasy düwmeler </a:t>
            </a:r>
            <a:r>
              <a:rPr lang="tk" dirty="0"/>
              <a:t>(her ýazgy üçin özboluşly kesgitleýji)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Forieng</a:t>
            </a:r>
            <a:r>
              <a:rPr lang="en-US" b="1" dirty="0"/>
              <a:t> key </a:t>
            </a:r>
            <a:r>
              <a:rPr lang="tk" dirty="0"/>
              <a:t>(baglanyşykly tablisalaryň arasyndaky baglanyşyk)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Çäklendirmeler</a:t>
            </a:r>
            <a:r>
              <a:rPr lang="en-US" b="1" dirty="0"/>
              <a:t> ()</a:t>
            </a:r>
            <a:r>
              <a:rPr lang="en-US" b="1" dirty="0" err="1"/>
              <a:t>Constarants</a:t>
            </a:r>
            <a:r>
              <a:rPr lang="en-US" b="1" dirty="0"/>
              <a:t>) </a:t>
            </a:r>
            <a:r>
              <a:rPr lang="tk" b="1" dirty="0"/>
              <a:t> </a:t>
            </a:r>
            <a:r>
              <a:rPr lang="tk" dirty="0"/>
              <a:t>(NULL däl, UNIQUE ýaly düzgünler)</a:t>
            </a:r>
          </a:p>
          <a:p>
            <a:r>
              <a:rPr lang="tk" dirty="0"/>
              <a:t>Bular köpeltmegiň ýa-da nädogry ýazgylaryň öňüni alýar.</a:t>
            </a:r>
          </a:p>
        </p:txBody>
      </p:sp>
    </p:spTree>
    <p:extLst>
      <p:ext uri="{BB962C8B-B14F-4D97-AF65-F5344CB8AC3E}">
        <p14:creationId xmlns:p14="http://schemas.microsoft.com/office/powerpoint/2010/main" val="22095765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46B10-6F17-4753-8BCF-1DD1CEC4D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A2B0B3-B773-4A11-8560-46B44A4F93A7}"/>
              </a:ext>
            </a:extLst>
          </p:cNvPr>
          <p:cNvSpPr txBox="1"/>
          <p:nvPr/>
        </p:nvSpPr>
        <p:spPr>
          <a:xfrm>
            <a:off x="3048000" y="2433303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3. Howpsuzlyk</a:t>
            </a:r>
          </a:p>
          <a:p>
            <a:r>
              <a:rPr lang="tk" dirty="0"/>
              <a:t>RDBMS içerki </a:t>
            </a:r>
            <a:r>
              <a:rPr lang="tk" b="1" dirty="0"/>
              <a:t>ulanyjy tanamaklygy we giriş gözegçiligini üpjün edýär </a:t>
            </a:r>
            <a:r>
              <a:rPr lang="tk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Diňe ygtyýarly ulanyjylar maglumatlary görüp ýa-da üýtgedip bilerler.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Rugsatlar çäklendirilip bilner (meselem, diňe okamak, redaktirlemek, administrator).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Goşmaça howpsuzlyk üçin maglumatlar şifrlenip bilner.</a:t>
            </a:r>
          </a:p>
        </p:txBody>
      </p:sp>
    </p:spTree>
    <p:extLst>
      <p:ext uri="{BB962C8B-B14F-4D97-AF65-F5344CB8AC3E}">
        <p14:creationId xmlns:p14="http://schemas.microsoft.com/office/powerpoint/2010/main" val="27938850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132D-AA84-40DF-BCC0-46BA5690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23A77-8104-4898-95CF-643883C51021}"/>
              </a:ext>
            </a:extLst>
          </p:cNvPr>
          <p:cNvSpPr txBox="1"/>
          <p:nvPr/>
        </p:nvSpPr>
        <p:spPr>
          <a:xfrm>
            <a:off x="3048000" y="207530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4. Maglumatlaryň garaşsyzlygy</a:t>
            </a:r>
          </a:p>
          <a:p>
            <a:r>
              <a:rPr lang="tk" dirty="0"/>
              <a:t>Programmalar gönüden-göni faýllar bilen däl-de, DBMS arkaly maglumatlar bilen täsirleşýär - programmalary bozmazdan maglumat bazasynyň gurluşyny üýtgetmegi aňsatlaşdyrýar.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ECD66-54A6-4B7D-BE15-6E45E11B57E6}"/>
              </a:ext>
            </a:extLst>
          </p:cNvPr>
          <p:cNvSpPr txBox="1"/>
          <p:nvPr/>
        </p:nvSpPr>
        <p:spPr>
          <a:xfrm>
            <a:off x="3048000" y="327563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5. Köp ulanyja giriş</a:t>
            </a:r>
          </a:p>
          <a:p>
            <a:r>
              <a:rPr lang="tk" dirty="0"/>
              <a:t>Ulanyjylaryň köpüsi, şol bir wagtyň özünde </a:t>
            </a:r>
            <a:r>
              <a:rPr lang="tk" b="1" dirty="0"/>
              <a:t>ylalaşyk gözegçiligini ulanyp, maglumatlary ygtybarly we üýtgedip bilerler </a:t>
            </a:r>
            <a:r>
              <a:rPr lang="t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54501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C7D97-CC44-4702-8F4D-1CEC47C4D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4FFCD9-88F7-4DB6-B0D4-E9BF263F98AB}"/>
              </a:ext>
            </a:extLst>
          </p:cNvPr>
          <p:cNvSpPr txBox="1"/>
          <p:nvPr/>
        </p:nvSpPr>
        <p:spPr>
          <a:xfrm>
            <a:off x="838199" y="2019067"/>
            <a:ext cx="97014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dirty="0"/>
              <a:t> </a:t>
            </a:r>
            <a:r>
              <a:rPr lang="tk" b="1" dirty="0"/>
              <a:t>(Maglumatlar bazasyny dolandyrmak ulgamy) ähli maglumatlar gurluşly, tablisa esasly görnüşde </a:t>
            </a:r>
            <a:r>
              <a:rPr lang="tk" dirty="0"/>
              <a:t>saklanýar - maglumatlary guramagy, girmegi we baglanyşdyrmagy aňsatlaşdyrýar.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06A822-F225-43D5-AD3F-8417DAA8FE49}"/>
              </a:ext>
            </a:extLst>
          </p:cNvPr>
          <p:cNvSpPr txBox="1"/>
          <p:nvPr/>
        </p:nvSpPr>
        <p:spPr>
          <a:xfrm>
            <a:off x="1038727" y="3148273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k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Sütünler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fields</a:t>
            </a:r>
            <a:r>
              <a:rPr kumimoji="0" lang="tk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 </a:t>
            </a:r>
            <a:r>
              <a:rPr kumimoji="0" lang="tk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sütün </a:t>
            </a: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 aýratynlygy ýa-da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property </a:t>
            </a: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aňladýar.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Mysal (Talyplar tablisasy)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Sütünler: </a:t>
            </a:r>
            <a:r>
              <a:rPr kumimoji="0" lang="tk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StudentID </a:t>
            </a: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ady </a:t>
            </a: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ýaşy </a:t>
            </a: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e-poçta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 sütüniň haýsy maglumatlary saklaýandygyny </a:t>
            </a:r>
            <a:r>
              <a:rPr kumimoji="0" lang="tk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kesgitleýän maglumat görnüşi (san, tekst, sene we ş.m.) bar.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4627C0-D05A-42FA-AD64-BFB0EB3714D3}"/>
              </a:ext>
            </a:extLst>
          </p:cNvPr>
          <p:cNvSpPr txBox="1"/>
          <p:nvPr/>
        </p:nvSpPr>
        <p:spPr>
          <a:xfrm>
            <a:off x="1248833" y="5656912"/>
            <a:ext cx="98467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k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 </a:t>
            </a:r>
            <a:r>
              <a:rPr kumimoji="0" lang="tk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hatar </a:t>
            </a:r>
            <a:r>
              <a:rPr kumimoji="0" lang="tk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 aýratyn ýazgyny ýa-da ýazgyny aňladýar.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k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Mysal: bir okuwçynyň maglumatlary → </a:t>
            </a:r>
            <a:r>
              <a:rPr kumimoji="0" lang="tk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StudentID </a:t>
            </a:r>
            <a:r>
              <a:rPr kumimoji="0" lang="tk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 101 </a:t>
            </a:r>
            <a:r>
              <a:rPr kumimoji="0" lang="tk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k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Ady = Alisa </a:t>
            </a:r>
            <a:r>
              <a:rPr kumimoji="0" lang="tk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k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 aşy = 20 </a:t>
            </a:r>
            <a:r>
              <a:rPr kumimoji="0" lang="tk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k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E-poçta = alice@example.com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7058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5EDEA-4C05-43D8-99CB-08FCD6B8B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Maglumat bazasynyň esaslary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C5D01B-CE28-44EC-A8DB-2CBB1FAB9889}"/>
              </a:ext>
            </a:extLst>
          </p:cNvPr>
          <p:cNvSpPr txBox="1"/>
          <p:nvPr/>
        </p:nvSpPr>
        <p:spPr>
          <a:xfrm>
            <a:off x="499533" y="2357876"/>
            <a:ext cx="1148926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Tablisalaryň arasyndaky gatnaşyklar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keyler</a:t>
            </a: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arkaly baglanyşdyryp bolar 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key</a:t>
            </a: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 ýazgyny özboluşly kesgitleýär ( StudentID ýaly 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Forieng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açary: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 tablisany beýlekisine baglaýar (mysal üçin,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Talyplar tablisasyndaky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1AB1F8-5303-45A6-B2B7-B15BDE70986C}"/>
              </a:ext>
            </a:extLst>
          </p:cNvPr>
          <p:cNvSpPr txBox="1"/>
          <p:nvPr/>
        </p:nvSpPr>
        <p:spPr>
          <a:xfrm>
            <a:off x="838200" y="451838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Mysal (söz bilen):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Talyplar tablisasy: </a:t>
            </a:r>
            <a:r>
              <a:rPr lang="tk" dirty="0"/>
              <a:t>talyplar barada jikme-jiklikleri saklaýar.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Kurslaryň tablisasy: </a:t>
            </a:r>
            <a:r>
              <a:rPr lang="tk" dirty="0"/>
              <a:t>kurslar barada jikme-jiklikleri saklaýar.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dirty="0"/>
              <a:t>Bularyň ikisini umumy açar bilen baglanyşdyryp bolar ( </a:t>
            </a:r>
            <a:r>
              <a:rPr lang="tk" dirty="0" err="1"/>
              <a:t>CourseID ýaly </a:t>
            </a:r>
            <a:r>
              <a:rPr lang="tk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623909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CAD0-5AC0-4B38-8A0B-5D2FB72FF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4" y="280458"/>
            <a:ext cx="10515600" cy="1399667"/>
          </a:xfrm>
        </p:spPr>
        <p:txBody>
          <a:bodyPr/>
          <a:lstStyle/>
          <a:p>
            <a:r>
              <a:rPr lang="tk" sz="4000" dirty="0"/>
              <a:t>Tablisa düşünjesi - Esasy gurluşyň düşündirişi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35A9A7-7903-4F42-BB01-AB7964FF4468}"/>
              </a:ext>
            </a:extLst>
          </p:cNvPr>
          <p:cNvSpPr txBox="1"/>
          <p:nvPr/>
        </p:nvSpPr>
        <p:spPr>
          <a:xfrm>
            <a:off x="804334" y="2281534"/>
            <a:ext cx="103039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dirty="0"/>
              <a:t>Tablisa baglanyşyk bazasynyň esasy </a:t>
            </a:r>
            <a:r>
              <a:rPr lang="tk" b="1" dirty="0"/>
              <a:t>gurluş bölegi . Maglumatlary </a:t>
            </a:r>
            <a:r>
              <a:rPr lang="tk" dirty="0"/>
              <a:t>elektron tablisasyna meňzeş </a:t>
            </a:r>
            <a:r>
              <a:rPr lang="tk" b="1" dirty="0"/>
              <a:t>hatarlaryň we sütünleriň gözenegine </a:t>
            </a:r>
            <a:r>
              <a:rPr lang="tk" dirty="0"/>
              <a:t>düzýär 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07D49E-152A-4C0A-AFAA-F6321F8C3CAB}"/>
              </a:ext>
            </a:extLst>
          </p:cNvPr>
          <p:cNvSpPr txBox="1"/>
          <p:nvPr/>
        </p:nvSpPr>
        <p:spPr>
          <a:xfrm>
            <a:off x="1044073" y="3424989"/>
            <a:ext cx="958426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k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Tablisanyň gurluşy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k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Sütünler (Meýdanlar):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tk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 sütün maglumatlaryň bir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tk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aýratynlygyny ýa-da görnüşini görkezýär. </a:t>
            </a:r>
            <a:r>
              <a:rPr kumimoji="0" lang="tk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Mysal: </a:t>
            </a:r>
            <a:r>
              <a:rPr kumimoji="0" lang="tk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StudentID </a:t>
            </a:r>
            <a:r>
              <a:rPr kumimoji="0" lang="tk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k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ady </a:t>
            </a:r>
            <a:r>
              <a:rPr kumimoji="0" lang="tk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k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ýaşy </a:t>
            </a:r>
            <a:r>
              <a:rPr kumimoji="0" lang="tk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k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e-poçta </a:t>
            </a:r>
            <a:r>
              <a:rPr kumimoji="0" lang="tk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k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Her sütüniň </a:t>
            </a:r>
            <a:r>
              <a:rPr kumimoji="0" lang="tk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ady </a:t>
            </a:r>
            <a:r>
              <a:rPr kumimoji="0" lang="tk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</a:t>
            </a:r>
            <a:r>
              <a:rPr kumimoji="0" lang="tk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maglumat görnüşi bar </a:t>
            </a:r>
            <a:r>
              <a:rPr kumimoji="0" lang="tk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(san, tekst ýa-da sene ýaly).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Setirler (sazgylar):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tk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 hatarda bir </a:t>
            </a:r>
            <a:r>
              <a:rPr kumimoji="0" lang="tk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doly ýazgy </a:t>
            </a:r>
            <a:r>
              <a:rPr kumimoji="0" lang="tk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ýa-da </a:t>
            </a:r>
            <a:r>
              <a:rPr kumimoji="0" lang="tk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ýazgy bar </a:t>
            </a:r>
            <a:r>
              <a:rPr kumimoji="0" lang="tk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tk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Mysal: bir okuwçynyň maglumatlary → </a:t>
            </a:r>
            <a:r>
              <a:rPr kumimoji="0" lang="tk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101, Alisa, 20, alice@email.com </a:t>
            </a:r>
            <a:r>
              <a:rPr kumimoji="0" lang="tk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2928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36738-60DF-44AF-9462-E9A5EA68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Tablisalar, sütünler, hatar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788D47-E150-4436-83C4-42B85CD090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985905"/>
              </p:ext>
            </p:extLst>
          </p:nvPr>
        </p:nvGraphicFramePr>
        <p:xfrm>
          <a:off x="778933" y="2634774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527072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370295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561910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453326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tk"/>
                        <a:t>StudentID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Ady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Ageaş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E-poçta iberiň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6221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Elisa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>
                          <a:hlinkClick r:id="rId2"/>
                        </a:rPr>
                        <a:t>alice@email.com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191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Bob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>
                          <a:hlinkClick r:id="rId3"/>
                        </a:rPr>
                        <a:t>bob@email.com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1843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Zara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>
                          <a:hlinkClick r:id="rId4"/>
                        </a:rPr>
                        <a:t>zara@email.com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2789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3BF0FA-A65F-46D5-BC79-B3D700388B13}"/>
              </a:ext>
            </a:extLst>
          </p:cNvPr>
          <p:cNvSpPr txBox="1"/>
          <p:nvPr/>
        </p:nvSpPr>
        <p:spPr>
          <a:xfrm>
            <a:off x="778933" y="5196396"/>
            <a:ext cx="91270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k" sz="2800" dirty="0"/>
              <a:t>Her </a:t>
            </a:r>
            <a:r>
              <a:rPr lang="tk" sz="2800" b="1" dirty="0"/>
              <a:t>sütün </a:t>
            </a:r>
            <a:r>
              <a:rPr lang="tk" sz="2800" dirty="0"/>
              <a:t>bir emlägi suratlandyrýar (Ady ýa-da</a:t>
            </a:r>
            <a:r>
              <a:rPr lang="en-US" sz="2800" dirty="0"/>
              <a:t> </a:t>
            </a:r>
            <a:r>
              <a:rPr lang="tk-TM" sz="2800" dirty="0"/>
              <a:t>ý</a:t>
            </a:r>
            <a:r>
              <a:rPr lang="tk" sz="2800" dirty="0"/>
              <a:t>aşy ýaly).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sz="2800" dirty="0"/>
              <a:t>Her </a:t>
            </a:r>
            <a:r>
              <a:rPr lang="tk" sz="2800" b="1" dirty="0"/>
              <a:t>hatar </a:t>
            </a:r>
            <a:r>
              <a:rPr lang="tk" sz="2800" dirty="0"/>
              <a:t>ýekeje okuwçynyň ýazgysydyr.</a:t>
            </a:r>
          </a:p>
        </p:txBody>
      </p:sp>
    </p:spTree>
    <p:extLst>
      <p:ext uri="{BB962C8B-B14F-4D97-AF65-F5344CB8AC3E}">
        <p14:creationId xmlns:p14="http://schemas.microsoft.com/office/powerpoint/2010/main" val="18853081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45ECA-B34E-4961-877D-463F25B42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Tablisalar, sütünler, hatar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04A5CC-0209-44EB-B672-CB55A4FA8120}"/>
              </a:ext>
            </a:extLst>
          </p:cNvPr>
          <p:cNvSpPr txBox="1"/>
          <p:nvPr/>
        </p:nvSpPr>
        <p:spPr>
          <a:xfrm>
            <a:off x="2342148" y="3429000"/>
            <a:ext cx="72349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Tablisanyň maksady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Baglanyşykly maglumatlary bilelikde </a:t>
            </a:r>
            <a:r>
              <a:rPr lang="tk" dirty="0"/>
              <a:t>saklaýar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gözlemegi, tertiplemegi, süzmegi we täzelemegi </a:t>
            </a:r>
            <a:r>
              <a:rPr lang="tk" dirty="0"/>
              <a:t>aňsatlaşdyrýar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K</a:t>
            </a:r>
            <a:r>
              <a:rPr lang="tk" b="1" dirty="0"/>
              <a:t>eys  ulanyp </a:t>
            </a:r>
            <a:r>
              <a:rPr lang="tk" dirty="0"/>
              <a:t>(dublikat bolmazlygy üçin) beýleki tablisalar bilen </a:t>
            </a:r>
            <a:r>
              <a:rPr lang="tk" b="1" dirty="0"/>
              <a:t>baglanyşyp </a:t>
            </a:r>
            <a:r>
              <a:rPr lang="tk" dirty="0"/>
              <a:t>bolýar .</a:t>
            </a:r>
          </a:p>
        </p:txBody>
      </p:sp>
    </p:spTree>
    <p:extLst>
      <p:ext uri="{BB962C8B-B14F-4D97-AF65-F5344CB8AC3E}">
        <p14:creationId xmlns:p14="http://schemas.microsoft.com/office/powerpoint/2010/main" val="36863351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2D086-C559-4BEE-95FD-308DBEC85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288925"/>
            <a:ext cx="10515600" cy="1399667"/>
          </a:xfrm>
        </p:spPr>
        <p:txBody>
          <a:bodyPr/>
          <a:lstStyle/>
          <a:p>
            <a:r>
              <a:rPr lang="tk" sz="5400" dirty="0"/>
              <a:t>Tablisalar, sütünler, hatar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95AEA1-D3A6-4AF2-B506-CCF13E2EA6AE}"/>
              </a:ext>
            </a:extLst>
          </p:cNvPr>
          <p:cNvSpPr txBox="1"/>
          <p:nvPr/>
        </p:nvSpPr>
        <p:spPr>
          <a:xfrm>
            <a:off x="1812758" y="3429000"/>
            <a:ext cx="863767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Umumy SQL maglumat görnüşleri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 (Integer)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tk" altLang="en-US" sz="2000" b="1" dirty="0">
                <a:latin typeface="Arial" panose="020B0604020202020204" pitchFamily="34" charset="0"/>
              </a:rPr>
              <a:t> B</a:t>
            </a: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itin sanlary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saklaýar (onluk ýok).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Mysal: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-5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250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Ulanylýar: ýaşy, mukdary, şahsyýet belgileri we ş.m.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6635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8D9D3-6592-45A7-9C16-D8C3E012E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Tablisalar, sütünler, hatar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C33EAD-32E6-4B7B-8C07-FFB3BBE393C5}"/>
              </a:ext>
            </a:extLst>
          </p:cNvPr>
          <p:cNvSpPr txBox="1"/>
          <p:nvPr/>
        </p:nvSpPr>
        <p:spPr>
          <a:xfrm>
            <a:off x="1892969" y="3079174"/>
            <a:ext cx="863566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WARCHAR (üýtgeýän nyşan)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Bellenen iň uzynlygy bolan </a:t>
            </a: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teksti ýa-da setirleri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saklaýar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Mysal: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'Elisa'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'Aşgabat'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Ulanylýar: atlar, salgylar, e-poçta we ş.m.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Mysal manysy: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VARCHAR (50)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 50 nyşan.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4521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F1DFC-97B9-4852-BB08-D4ECCE880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Tablisalar, sütünler, hatar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BECEFF-A9C2-4F68-8811-F602A0C93329}"/>
              </a:ext>
            </a:extLst>
          </p:cNvPr>
          <p:cNvSpPr txBox="1"/>
          <p:nvPr/>
        </p:nvSpPr>
        <p:spPr>
          <a:xfrm>
            <a:off x="2550695" y="3386694"/>
            <a:ext cx="75237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Senenama senesini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YYYY-MM-DD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görnüşinde saklaýar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Mysal: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2025-11-05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Ulanylýar: doglan senesi, sargyt senesi, synag senesi</a:t>
            </a:r>
          </a:p>
        </p:txBody>
      </p:sp>
    </p:spTree>
    <p:extLst>
      <p:ext uri="{BB962C8B-B14F-4D97-AF65-F5344CB8AC3E}">
        <p14:creationId xmlns:p14="http://schemas.microsoft.com/office/powerpoint/2010/main" val="33761582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E9E2C-A73C-408E-BEC9-BDB0017D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Tablisalar, sütünler, hatar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E33387-CD77-4B75-9819-50CCF221290E}"/>
              </a:ext>
            </a:extLst>
          </p:cNvPr>
          <p:cNvSpPr txBox="1"/>
          <p:nvPr/>
        </p:nvSpPr>
        <p:spPr>
          <a:xfrm>
            <a:off x="1925053" y="3076535"/>
            <a:ext cx="721894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BOOLEAN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Hakyky ýa-da ýalan </a:t>
            </a:r>
            <a:r>
              <a:rPr lang="tk" altLang="en-US" sz="2000" b="1" dirty="0">
                <a:latin typeface="Arial" panose="020B0604020202020204" pitchFamily="34" charset="0"/>
              </a:rPr>
              <a:t>bahalary</a:t>
            </a: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saklaýar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Mysal: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HAKYKAT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ALALAN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Ulanylýar: hawa / ýok, işjeň / hereketsiz, geçen / şowsuz baýdaklar.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1908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175D4-E2B0-43E4-A95C-07E067B47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Tablisalar, sütünler, hatar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607321-D500-4E20-8D96-85BCBED1BB21}"/>
              </a:ext>
            </a:extLst>
          </p:cNvPr>
          <p:cNvSpPr txBox="1"/>
          <p:nvPr/>
        </p:nvSpPr>
        <p:spPr>
          <a:xfrm>
            <a:off x="2937487" y="3429000"/>
            <a:ext cx="63170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Beýleki umumy görnüşler (diňe bilmek üçin)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DECIMAL / FLOAT: </a:t>
            </a:r>
            <a:r>
              <a:rPr lang="tk" dirty="0"/>
              <a:t>onlukly sanlar üçin (3.14, 2500.75 ýaly).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Tekst: </a:t>
            </a:r>
            <a:r>
              <a:rPr lang="tk" dirty="0"/>
              <a:t>uzyn abzaslar ýa-da düşündirişler üçin.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k" b="1" dirty="0"/>
              <a:t>WAGT / sene: </a:t>
            </a:r>
            <a:r>
              <a:rPr lang="tk" dirty="0"/>
              <a:t>takyk wagt ýa-da doly wagt belgisi üçin.</a:t>
            </a:r>
          </a:p>
        </p:txBody>
      </p:sp>
    </p:spTree>
    <p:extLst>
      <p:ext uri="{BB962C8B-B14F-4D97-AF65-F5344CB8AC3E}">
        <p14:creationId xmlns:p14="http://schemas.microsoft.com/office/powerpoint/2010/main" val="16475896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88B8E-7018-4B46-B6E8-BD5DE164C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Tablisalar, sütünler, hatar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4B066A-2C7E-4851-948E-47954ECD82E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8945455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96913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84697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54928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tk"/>
                        <a:t>Maglumatlaryň görnüşi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Saklaýan zatlary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Mysal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Umumy ulanyş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5584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Bütin sanlar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Ageaşy, şahsyýetnamasy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744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WARÇAR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Gysga tekst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"Elisa"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Ady, şäheri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969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Sene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Senenama senesi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2025-11-05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Doglan senesi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6133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k"/>
                        <a:t>BOOLEAN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Hakyky / ýalňyş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HAKYKAT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/>
                        <a:t>Işjeň ulanyjy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6156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1584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0C04-1175-433E-B70F-921FC722B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Tablisalar, sütünler, hatar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6893A3-137C-4E09-9BB2-CB9722EB2BEB}"/>
              </a:ext>
            </a:extLst>
          </p:cNvPr>
          <p:cNvSpPr txBox="1"/>
          <p:nvPr/>
        </p:nvSpPr>
        <p:spPr>
          <a:xfrm>
            <a:off x="2827866" y="202450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k" b="1" dirty="0"/>
              <a:t>Esasy açar </a:t>
            </a:r>
            <a:r>
              <a:rPr lang="tk" dirty="0"/>
              <a:t>, </a:t>
            </a:r>
            <a:r>
              <a:rPr lang="tk" b="1" dirty="0"/>
              <a:t>her hatary özboluşly kesgitleýän </a:t>
            </a:r>
            <a:r>
              <a:rPr lang="tk" dirty="0"/>
              <a:t>tablisadaky ýörite sütün (ýa-da sütünler topary) . </a:t>
            </a:r>
            <a:br>
              <a:rPr lang="en-GB" dirty="0"/>
            </a:br>
            <a:r>
              <a:rPr lang="tk" dirty="0"/>
              <a:t>Iki hataryň esasy açar bahasy bolup bilmez we </a:t>
            </a:r>
            <a:r>
              <a:rPr lang="tk" b="1" dirty="0"/>
              <a:t>boş bolup bilmez (NULL) </a:t>
            </a:r>
            <a:r>
              <a:rPr lang="tk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680FF1-3318-4D55-8F7C-862D31B51D81}"/>
              </a:ext>
            </a:extLst>
          </p:cNvPr>
          <p:cNvSpPr txBox="1"/>
          <p:nvPr/>
        </p:nvSpPr>
        <p:spPr>
          <a:xfrm>
            <a:off x="641684" y="3429000"/>
            <a:ext cx="1012256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Näme üçin </a:t>
            </a:r>
            <a:r>
              <a:rPr kumimoji="0" lang="en-GB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</a:t>
            </a: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GB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</a:t>
            </a: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gerek?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Özboluşlylyk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Her ýazgynyň tapawutlydygyny üpjün edýär. 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Mysal: Iki okuwçynyň ady birmeňzeş bolup biler, ýöne şol bir </a:t>
            </a:r>
            <a:r>
              <a:rPr kumimoji="0" lang="tk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okuwçy_id däl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Maglumatlaryň bitewiligi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ýazgylaryň köpeldilmeginiň ýa-da ýitmeginiň öňüni alýar.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Gatnaşyklar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Beýleki tablisalar </a:t>
            </a:r>
            <a:r>
              <a:rPr kumimoji="0" lang="en-GB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key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salgylanma hökmünde ulanýarlar ( </a:t>
            </a:r>
            <a:r>
              <a:rPr lang="en-GB" altLang="en-US" sz="2000" i="1" dirty="0" err="1">
                <a:latin typeface="Arial" panose="020B0604020202020204" pitchFamily="34" charset="0"/>
              </a:rPr>
              <a:t>forieng</a:t>
            </a:r>
            <a:r>
              <a:rPr lang="en-GB" altLang="en-US" sz="2000" i="1" dirty="0">
                <a:latin typeface="Arial" panose="020B0604020202020204" pitchFamily="34" charset="0"/>
              </a:rPr>
              <a:t> key</a:t>
            </a:r>
            <a:r>
              <a:rPr kumimoji="0" lang="tk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üsti bilen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Çalt elýeterlilik </a:t>
            </a:r>
            <a:r>
              <a:rPr kumimoji="0" lang="tk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Maglumatlar bazalary gözlegleri we täzelenmeleri has çaltlaşdyrýan esasy açary görkezýär.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5978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B2B8-3128-4AB0-A13D-3FBC6BA27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Tablisalar, sütünler, hatar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EA6B1A-9B79-492E-87F3-961634129242}"/>
              </a:ext>
            </a:extLst>
          </p:cNvPr>
          <p:cNvSpPr txBox="1"/>
          <p:nvPr/>
        </p:nvSpPr>
        <p:spPr>
          <a:xfrm>
            <a:off x="931333" y="2126102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 err="1"/>
              <a:t>Forieng</a:t>
            </a:r>
            <a:r>
              <a:rPr lang="tk" dirty="0"/>
              <a:t>, </a:t>
            </a:r>
            <a:r>
              <a:rPr lang="tk" b="1" dirty="0"/>
              <a:t>başga bir tablisanyň </a:t>
            </a:r>
            <a:r>
              <a:rPr lang="en-GB" b="1" dirty="0"/>
              <a:t>primary key </a:t>
            </a:r>
            <a:r>
              <a:rPr lang="tk" b="1" dirty="0"/>
              <a:t>görkezýän </a:t>
            </a:r>
            <a:r>
              <a:rPr lang="tk" dirty="0"/>
              <a:t>bir tablisadaky sütün (ýa-da sütünler toplumy) . </a:t>
            </a:r>
            <a:br>
              <a:rPr lang="en-GB" dirty="0"/>
            </a:br>
            <a:r>
              <a:rPr lang="tk" dirty="0"/>
              <a:t>Baglanyşykly maglumatlar bazasyndaky </a:t>
            </a:r>
            <a:r>
              <a:rPr lang="tk" b="1" dirty="0"/>
              <a:t>tablisalara degişli maglumatlary birikdirmek </a:t>
            </a:r>
            <a:r>
              <a:rPr lang="tk" dirty="0"/>
              <a:t>üçin ulanylýar 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FE9EF-A2D1-4B90-AE70-1497B25141B2}"/>
              </a:ext>
            </a:extLst>
          </p:cNvPr>
          <p:cNvSpPr txBox="1"/>
          <p:nvPr/>
        </p:nvSpPr>
        <p:spPr>
          <a:xfrm>
            <a:off x="482599" y="3362342"/>
            <a:ext cx="108712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tk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Gatnaşyk dörediň </a:t>
            </a: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Maglumatlary iki tablisadan baglanyşdyrýar.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Mysal: Talyplar tablisasy → </a:t>
            </a:r>
            <a:r>
              <a:rPr kumimoji="0" lang="tk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kurs_id </a:t>
            </a: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Kurslar tablisasyna → </a:t>
            </a:r>
            <a:r>
              <a:rPr kumimoji="0" lang="tk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kurs_id degişlidir </a:t>
            </a: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tk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Maglumatlaryň bitewiligini saklaň </a:t>
            </a: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Bir tablisadaky bahanyň degişli tablisada </a:t>
            </a:r>
            <a:r>
              <a:rPr kumimoji="0" lang="tk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bolmalydygyna göz ýetiriň.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Talyby ýok derslere belläp bilmersiňiz.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tk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Tablisa boýunça goldaw </a:t>
            </a:r>
            <a:r>
              <a:rPr kumimoji="0" lang="en-GB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</a:t>
            </a:r>
            <a:r>
              <a:rPr kumimoji="0" lang="tk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Birnäçe tablisadaky maglumatlary birleşdirmäge mümkinçilik berýär (birleşýär).</a:t>
            </a:r>
          </a:p>
        </p:txBody>
      </p:sp>
    </p:spTree>
    <p:extLst>
      <p:ext uri="{BB962C8B-B14F-4D97-AF65-F5344CB8AC3E}">
        <p14:creationId xmlns:p14="http://schemas.microsoft.com/office/powerpoint/2010/main" val="10437164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99EE1-A7F2-4DF1-ADF6-D3D30831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Tablisalar, sütünler, hatar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B16DE5-18BE-4291-8F74-1F736C7B1DBC}"/>
              </a:ext>
            </a:extLst>
          </p:cNvPr>
          <p:cNvSpPr txBox="1"/>
          <p:nvPr/>
        </p:nvSpPr>
        <p:spPr>
          <a:xfrm>
            <a:off x="2895600" y="2963333"/>
            <a:ext cx="773853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Mysallar</a:t>
            </a:r>
            <a:endParaRPr kumimoji="0" lang="tk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Talyplar tablisasy: </a:t>
            </a:r>
            <a:r>
              <a:rPr kumimoji="0" lang="tk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talyp_id </a:t>
            </a:r>
            <a:r>
              <a:rPr kumimoji="0" lang="tk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k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ady </a:t>
            </a:r>
            <a:r>
              <a:rPr kumimoji="0" lang="tk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k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kurs_id bar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Kurslaryň tablisasy: </a:t>
            </a:r>
            <a:r>
              <a:rPr kumimoji="0" lang="tk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kurs_id </a:t>
            </a:r>
            <a:r>
              <a:rPr kumimoji="0" lang="tk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k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kurs_name bar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Talyplar tablisasyndaky </a:t>
            </a:r>
            <a:r>
              <a:rPr kumimoji="0" lang="tk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kurs_id </a:t>
            </a:r>
            <a:r>
              <a:rPr kumimoji="0" lang="tk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daşary ýurt açarydyr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Kurslar tablisasyndaky esasy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Bu, her bir okuwçynyň dogry kursda bellenilmegini üpjün edýär.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4158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4E59F-5F20-4FA3-9974-0BD8718C7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k" sz="5400" dirty="0"/>
              <a:t>Tablisalar, sütünler, hatar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7F1BDE-FDCD-4AC6-AD8B-181095C06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880491"/>
              </p:ext>
            </p:extLst>
          </p:nvPr>
        </p:nvGraphicFramePr>
        <p:xfrm>
          <a:off x="346690" y="2937785"/>
          <a:ext cx="4809066" cy="1560164"/>
        </p:xfrm>
        <a:graphic>
          <a:graphicData uri="http://schemas.openxmlformats.org/drawingml/2006/table">
            <a:tbl>
              <a:tblPr/>
              <a:tblGrid>
                <a:gridCol w="1603022">
                  <a:extLst>
                    <a:ext uri="{9D8B030D-6E8A-4147-A177-3AD203B41FA5}">
                      <a16:colId xmlns:a16="http://schemas.microsoft.com/office/drawing/2014/main" val="3407472522"/>
                    </a:ext>
                  </a:extLst>
                </a:gridCol>
                <a:gridCol w="1512709">
                  <a:extLst>
                    <a:ext uri="{9D8B030D-6E8A-4147-A177-3AD203B41FA5}">
                      <a16:colId xmlns:a16="http://schemas.microsoft.com/office/drawing/2014/main" val="1581362976"/>
                    </a:ext>
                  </a:extLst>
                </a:gridCol>
                <a:gridCol w="1693335">
                  <a:extLst>
                    <a:ext uri="{9D8B030D-6E8A-4147-A177-3AD203B41FA5}">
                      <a16:colId xmlns:a16="http://schemas.microsoft.com/office/drawing/2014/main" val="1502331972"/>
                    </a:ext>
                  </a:extLst>
                </a:gridCol>
              </a:tblGrid>
              <a:tr h="462884">
                <a:tc>
                  <a:txBody>
                    <a:bodyPr/>
                    <a:lstStyle/>
                    <a:p>
                      <a:r>
                        <a:rPr lang="tk"/>
                        <a:t>talyp_id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/>
                        <a:t>ady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ýaşy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5182937"/>
                  </a:ext>
                </a:extLst>
              </a:tr>
              <a:tr h="264505">
                <a:tc>
                  <a:txBody>
                    <a:bodyPr/>
                    <a:lstStyle/>
                    <a:p>
                      <a:r>
                        <a:rPr lang="tk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Aýna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593644"/>
                  </a:ext>
                </a:extLst>
              </a:tr>
              <a:tr h="264505">
                <a:tc>
                  <a:txBody>
                    <a:bodyPr/>
                    <a:lstStyle/>
                    <a:p>
                      <a:r>
                        <a:rPr lang="tk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 err="1"/>
                        <a:t>Daýanç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/>
                        <a:t>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248378"/>
                  </a:ext>
                </a:extLst>
              </a:tr>
              <a:tr h="264505">
                <a:tc>
                  <a:txBody>
                    <a:bodyPr/>
                    <a:lstStyle/>
                    <a:p>
                      <a:r>
                        <a:rPr lang="tk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Kerim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/>
                        <a:t>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67736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41BF379-FF40-43E5-9BF0-090FFF3C3299}"/>
              </a:ext>
            </a:extLst>
          </p:cNvPr>
          <p:cNvSpPr txBox="1"/>
          <p:nvPr/>
        </p:nvSpPr>
        <p:spPr>
          <a:xfrm>
            <a:off x="1342635" y="2216394"/>
            <a:ext cx="2159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Tablisa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k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Talyplar tablisasy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28EF388-BAC5-4C39-A8B4-F17D8523DD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661712"/>
              </p:ext>
            </p:extLst>
          </p:nvPr>
        </p:nvGraphicFramePr>
        <p:xfrm>
          <a:off x="5456766" y="3136860"/>
          <a:ext cx="6096000" cy="1463040"/>
        </p:xfrm>
        <a:graphic>
          <a:graphicData uri="http://schemas.openxmlformats.org/drawingml/2006/table">
            <a:tbl>
              <a:tblPr/>
              <a:tblGrid>
                <a:gridCol w="2572083">
                  <a:extLst>
                    <a:ext uri="{9D8B030D-6E8A-4147-A177-3AD203B41FA5}">
                      <a16:colId xmlns:a16="http://schemas.microsoft.com/office/drawing/2014/main" val="4286578895"/>
                    </a:ext>
                  </a:extLst>
                </a:gridCol>
                <a:gridCol w="1491917">
                  <a:extLst>
                    <a:ext uri="{9D8B030D-6E8A-4147-A177-3AD203B41FA5}">
                      <a16:colId xmlns:a16="http://schemas.microsoft.com/office/drawing/2014/main" val="4996528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03068429"/>
                    </a:ext>
                  </a:extLst>
                </a:gridCol>
              </a:tblGrid>
              <a:tr h="338292">
                <a:tc>
                  <a:txBody>
                    <a:bodyPr/>
                    <a:lstStyle/>
                    <a:p>
                      <a:r>
                        <a:rPr lang="tk" dirty="0" err="1"/>
                        <a:t>enrollment_id </a:t>
                      </a:r>
                      <a:r>
                        <a:rPr lang="tk" dirty="0"/>
                        <a:t>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/>
                        <a:t>talyp_id (FK)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kurs_name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083185"/>
                  </a:ext>
                </a:extLst>
              </a:tr>
              <a:tr h="260337">
                <a:tc>
                  <a:txBody>
                    <a:bodyPr/>
                    <a:lstStyle/>
                    <a:p>
                      <a:r>
                        <a:rPr lang="tk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Matematika 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0048659"/>
                  </a:ext>
                </a:extLst>
              </a:tr>
              <a:tr h="260337">
                <a:tc>
                  <a:txBody>
                    <a:bodyPr/>
                    <a:lstStyle/>
                    <a:p>
                      <a:r>
                        <a:rPr lang="tk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Fizika 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209587"/>
                  </a:ext>
                </a:extLst>
              </a:tr>
              <a:tr h="260337">
                <a:tc>
                  <a:txBody>
                    <a:bodyPr/>
                    <a:lstStyle/>
                    <a:p>
                      <a:r>
                        <a:rPr lang="tk"/>
                        <a:t>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k" dirty="0"/>
                        <a:t>Iňlis dili 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470142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6F70F10-ED16-45D0-911B-C1941CCDAB55}"/>
              </a:ext>
            </a:extLst>
          </p:cNvPr>
          <p:cNvSpPr txBox="1"/>
          <p:nvPr/>
        </p:nvSpPr>
        <p:spPr>
          <a:xfrm>
            <a:off x="7236659" y="2299350"/>
            <a:ext cx="330623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k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Tablisa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k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Talyplaryň kabul edilmegi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3EF8D0-4A8D-49A0-901F-D6BE22836D90}"/>
              </a:ext>
            </a:extLst>
          </p:cNvPr>
          <p:cNvSpPr txBox="1"/>
          <p:nvPr/>
        </p:nvSpPr>
        <p:spPr>
          <a:xfrm>
            <a:off x="491066" y="4818754"/>
            <a:ext cx="99314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k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Düşündiriş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Talyplar </a:t>
            </a:r>
            <a:r>
              <a:rPr kumimoji="0" lang="tk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tablisasyndaky </a:t>
            </a:r>
            <a:r>
              <a:rPr lang="tk" altLang="en-US" sz="1600" dirty="0">
                <a:latin typeface="Arial Unicode MS"/>
              </a:rPr>
              <a:t>S</a:t>
            </a:r>
            <a:r>
              <a:rPr kumimoji="0" lang="tk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tudent_id </a:t>
            </a:r>
            <a:r>
              <a:rPr kumimoji="0" lang="tk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esasy açardyr (PK) each her bir okuwçyny özboluşly kesgitleýär.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tk" altLang="en-US" sz="1600" dirty="0">
                <a:latin typeface="Arial Unicode MS"/>
              </a:rPr>
              <a:t> Bellikler </a:t>
            </a:r>
            <a:r>
              <a:rPr kumimoji="0" lang="tk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tablisasyndaky </a:t>
            </a:r>
            <a:r>
              <a:rPr lang="tk" altLang="en-US" sz="1600" dirty="0">
                <a:latin typeface="Arial Unicode MS"/>
              </a:rPr>
              <a:t>S</a:t>
            </a:r>
            <a:r>
              <a:rPr kumimoji="0" lang="tk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tudent_id </a:t>
            </a:r>
            <a:r>
              <a:rPr kumimoji="0" lang="tk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daşary ýurt açarydyr (FK) each her ýazuwy bir okuwçy bilen baglanyşdyrýar.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aşakdakylary üpjün edýär: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 ýazuw </a:t>
            </a:r>
            <a:r>
              <a:rPr kumimoji="0" lang="en-GB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</a:t>
            </a:r>
            <a:r>
              <a:rPr kumimoji="0" lang="tk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okuwça degişlidir.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k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Talyplar tablisasynda ýok </a:t>
            </a:r>
            <a:r>
              <a:rPr kumimoji="0" lang="en-GB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talyby</a:t>
            </a:r>
            <a:r>
              <a:rPr kumimoji="0" lang="en-GB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k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ýazyp bilmersiňiz.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7499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7578-E28F-4BE7-8C18-C719DAC21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4554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50289-50BE-4A1D-849F-36CE39DBD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3748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CAA1B-B2A4-4DC9-9756-E3B853D0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4392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B0A2A-67D0-4CEA-9C74-01160C85D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88088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90347-0D13-4F1F-8039-FA782F930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69503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0CD23-0843-4116-A42A-520FEA65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0895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1982C-5958-46B0-9A81-8FF50AECF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61573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9F10D-9A53-4202-B87E-BE287C29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439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0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86CD90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89930376_win32_partially" id="{10637AC0-AFC5-4ECC-A6C8-54A3CB58B447}" vid="{36C0B417-512F-4042-8BD4-5638F572EA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C43B1BF-65BC-4B0E-8E52-87CEF13383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63F421-273F-45B7-A4F8-16DA506884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BEBEE47-E975-4F93-A8CC-93D51AEF41A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Learn to draw</Template>
  <TotalTime>917</TotalTime>
  <Words>3299</Words>
  <Application>Microsoft Office PowerPoint</Application>
  <PresentationFormat>Widescreen</PresentationFormat>
  <Paragraphs>490</Paragraphs>
  <Slides>71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7" baseType="lpstr">
      <vt:lpstr>Arial Unicode MS</vt:lpstr>
      <vt:lpstr>Arial</vt:lpstr>
      <vt:lpstr>Calibri</vt:lpstr>
      <vt:lpstr>Consolas</vt:lpstr>
      <vt:lpstr>Segoe UI</vt:lpstr>
      <vt:lpstr>Office Theme</vt:lpstr>
      <vt:lpstr>SQL (Sturctured query language)</vt:lpstr>
      <vt:lpstr>SQL näme?</vt:lpstr>
      <vt:lpstr>SQL näme edip biler?</vt:lpstr>
      <vt:lpstr>Esasy düşüje</vt:lpstr>
      <vt:lpstr>Taryhy</vt:lpstr>
      <vt:lpstr>SQL standart - Ýöne ....</vt:lpstr>
      <vt:lpstr>Meşhur SQL esasly maglumat bazalary</vt:lpstr>
      <vt:lpstr>Meşhur SQL esasly maglumat bazalary</vt:lpstr>
      <vt:lpstr>Meşhur SQL esasly maglumat bazalary</vt:lpstr>
      <vt:lpstr>Meşhur SQL esasly maglumat bazalary</vt:lpstr>
      <vt:lpstr>Meşhur SQL esasly maglumat bazalary</vt:lpstr>
      <vt:lpstr>Meşhur SQL esasly maglumat bazalary</vt:lpstr>
      <vt:lpstr>RDBMS</vt:lpstr>
      <vt:lpstr>RDBMS</vt:lpstr>
      <vt:lpstr>SQL buýruk görnüşleriniň sanawy</vt:lpstr>
      <vt:lpstr>Maglumat bazasynyň esaslary</vt:lpstr>
      <vt:lpstr>Maglumat bazasynyň esaslary</vt:lpstr>
      <vt:lpstr>Maglumat bazasynyň esaslary</vt:lpstr>
      <vt:lpstr>Maglumat bazasynyň esaslary</vt:lpstr>
      <vt:lpstr>Maglumat bazasynyň esaslary</vt:lpstr>
      <vt:lpstr>Maglumat näme?</vt:lpstr>
      <vt:lpstr>Maglumat bazasy näme</vt:lpstr>
      <vt:lpstr>Maglumatlar bazasy we faýl ulgamy</vt:lpstr>
      <vt:lpstr>Maglumatlaryň bitewiligi</vt:lpstr>
      <vt:lpstr>Maglumat bazasynyň esaslary</vt:lpstr>
      <vt:lpstr>Maglumat bazasynyň esaslary</vt:lpstr>
      <vt:lpstr>Maglumat bazasynyň esaslary</vt:lpstr>
      <vt:lpstr>Maglumat bazasynyň esaslary</vt:lpstr>
      <vt:lpstr>Maglumat bazasynyň esaslary</vt:lpstr>
      <vt:lpstr>DBMS</vt:lpstr>
      <vt:lpstr>DBMS</vt:lpstr>
      <vt:lpstr>Maglumat bazasynyň esaslary</vt:lpstr>
      <vt:lpstr>Maglumat bazasynyň esaslary</vt:lpstr>
      <vt:lpstr>Maglumat bazasynyň esaslary</vt:lpstr>
      <vt:lpstr>Maglumat bazasynyň esaslary</vt:lpstr>
      <vt:lpstr>Maglumat bazasynyň esaslary</vt:lpstr>
      <vt:lpstr>Maglumat bazasynyň esaslary</vt:lpstr>
      <vt:lpstr>Maglumat bazasynyň esaslary</vt:lpstr>
      <vt:lpstr>Maglumat bazasynyň esaslary</vt:lpstr>
      <vt:lpstr>Maglumat bazasynyň esaslary</vt:lpstr>
      <vt:lpstr>Maglumat bazasynyň esaslary</vt:lpstr>
      <vt:lpstr>Maglumat bazasynyň esaslary</vt:lpstr>
      <vt:lpstr>Maglumat bazasynyň esaslary</vt:lpstr>
      <vt:lpstr>Maglumat bazasynyň esaslary</vt:lpstr>
      <vt:lpstr>Maglumat bazasynyň esaslary</vt:lpstr>
      <vt:lpstr>Maglumat bazasynyň esaslary</vt:lpstr>
      <vt:lpstr>Maglumat bazasynyň esaslary</vt:lpstr>
      <vt:lpstr>Maglumat bazasynyň esaslary</vt:lpstr>
      <vt:lpstr>Maglumat bazasynyň esaslary</vt:lpstr>
      <vt:lpstr>Maglumat bazasynyň esaslary</vt:lpstr>
      <vt:lpstr>Tablisa düşünjesi - Esasy gurluşyň düşündirişi</vt:lpstr>
      <vt:lpstr>Tablisalar, sütünler, hatar</vt:lpstr>
      <vt:lpstr>Tablisalar, sütünler, hatar</vt:lpstr>
      <vt:lpstr>Tablisalar, sütünler, hatar</vt:lpstr>
      <vt:lpstr>Tablisalar, sütünler, hatar</vt:lpstr>
      <vt:lpstr>Tablisalar, sütünler, hatar</vt:lpstr>
      <vt:lpstr>Tablisalar, sütünler, hatar</vt:lpstr>
      <vt:lpstr>Tablisalar, sütünler, hatar</vt:lpstr>
      <vt:lpstr>Tablisalar, sütünler, hatar</vt:lpstr>
      <vt:lpstr>Tablisalar, sütünler, hatar</vt:lpstr>
      <vt:lpstr>Tablisalar, sütünler, hatar</vt:lpstr>
      <vt:lpstr>Tablisalar, sütünler, hatar</vt:lpstr>
      <vt:lpstr>Tablisalar, sütünler, hatar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(Structured Query Language)</dc:title>
  <dc:creator>user</dc:creator>
  <cp:lastModifiedBy>user</cp:lastModifiedBy>
  <cp:revision>31</cp:revision>
  <dcterms:created xsi:type="dcterms:W3CDTF">2025-11-05T11:02:34Z</dcterms:created>
  <dcterms:modified xsi:type="dcterms:W3CDTF">2025-11-06T02:40:11Z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